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ADEB"/>
    <a:srgbClr val="EFEBC0"/>
    <a:srgbClr val="FFFFF9"/>
    <a:srgbClr val="ECEBE3"/>
    <a:srgbClr val="4479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014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C068C2-1F1F-49A0-B63C-019C2C831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56F69EC-8FF8-4F9F-9E4C-1AE3A39CE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531125-EE0F-4DB8-BBBE-211C9CA33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6B56C-A311-4857-9873-6338C79F79BF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4E7F38-9577-415A-88CF-1CFAC677B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55D4FC-0E23-46BF-A3B8-BD91DBEB9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D38F-B2FB-4D06-8360-AFA147C31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861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D061DD-29D2-4C30-A493-52E24524F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19C1ED-824B-4025-8CD6-9B22D2BFB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5A097B-EF3C-42E9-9D4A-0DC9CFF39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6B56C-A311-4857-9873-6338C79F79BF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4A11B7-CEF0-4AA3-8C07-52D45B729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FB6429-C62A-48FB-B68D-C0D4FF23B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D38F-B2FB-4D06-8360-AFA147C31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6848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C8F730-EB85-4603-B514-FFA150D66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AB5520-220B-4B56-A50A-413B5CC81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52B83B-55EB-4159-8552-22957922F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6B56C-A311-4857-9873-6338C79F79BF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200A09-9AB5-4553-A844-5F6C79B5E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C18E64-996A-4A0B-98B5-3C47A48C7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D38F-B2FB-4D06-8360-AFA147C31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490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BC116F-D6CA-43BC-BACB-7577C9340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275F3F-07A4-4390-999E-622A53A85E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45430F1-2406-494C-B294-F27FC717F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1E00E8-49B7-49CA-A408-D03726B37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6B56C-A311-4857-9873-6338C79F79BF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1778F1-BE19-4E6C-B31F-C23710922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DDE05A-1209-4640-9B7F-1BF00D07D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D38F-B2FB-4D06-8360-AFA147C31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66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00F12B-836F-4C0E-B212-442132B68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EEAF5A-446A-4690-8D19-1830D1A86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7DAF8C7-9086-4AD7-94C6-A2BD1634E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951C828-5EEB-4DAE-85FF-93BCEA5FE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16BED3-87C7-49BA-8E69-5D7A464C27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455235D-337E-4A1E-8712-4DCB2E11A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6B56C-A311-4857-9873-6338C79F79BF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A2B22E0-B114-4C19-B022-0D743E51B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E46A666-6EEA-4160-B840-C4C2D14D3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D38F-B2FB-4D06-8360-AFA147C31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393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556A46-BEF2-445F-922E-FF8F49041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2B25C87-6A7F-4E7C-B860-3583A1D5A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6B56C-A311-4857-9873-6338C79F79BF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DA5ED4C-F170-4E78-B385-D7C483E8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82A0E09-CAD9-4257-BD49-03C5C5BB3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D38F-B2FB-4D06-8360-AFA147C31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7646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9C62EC9-B1DA-4BB6-A7B7-230215D0B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6B56C-A311-4857-9873-6338C79F79BF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CF03D8-DEDD-45F8-8B7F-1A32B7B69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70FDA8-DCEF-40FF-AE32-1AC2E7D22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D38F-B2FB-4D06-8360-AFA147C31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098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F3DE5-B47A-4F82-9894-A492E7C4A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DE2F47-92B5-4473-BD45-C6027D791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E10E154-0E25-4272-8332-7756CEE04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FBAA79-5403-4FCB-AC96-F3CB5FC14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6B56C-A311-4857-9873-6338C79F79BF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93FDF3-7B16-4CCF-9B4B-037A3EA28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7B1601-56A0-42C6-9109-02A4F4D9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D38F-B2FB-4D06-8360-AFA147C31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1292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88C59-E7A0-45C7-AF33-FFC6C1C6C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0436A06-3567-42A1-8993-6316FBDD39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ADE204-57E0-4EE7-ADA2-307AA1BEA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C9A130-181E-4B44-8A21-75288CF91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6B56C-A311-4857-9873-6338C79F79BF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043A9C-5AE9-4614-90D2-52C360A6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AC2035C-DBE8-4C90-8301-46C3C70E0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D38F-B2FB-4D06-8360-AFA147C31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7790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BFF7CD-6DBD-4452-A0B7-CD0A5C79F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CC9A09B-E3EE-4D0B-B745-9528CC5538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82790D-7F4D-4EAA-8E24-EDB786C3C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6B56C-A311-4857-9873-6338C79F79BF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4DC50F-FAD8-4284-9C3B-E746CA808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7C44FC-AE8F-4A97-AFB6-CD7ACB723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D38F-B2FB-4D06-8360-AFA147C31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7527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EB0D084-587C-485C-BB63-EB41FC3D3E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493358E-2484-4B07-9E13-67E6A0A7D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E01277-D53F-4743-BDC5-F849C10B8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6B56C-A311-4857-9873-6338C79F79BF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E74488-C3A0-431D-8524-E0CE462F6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39294F-A844-4DAD-ABE1-2A9F7223F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D38F-B2FB-4D06-8360-AFA147C31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1177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452523-04EA-49D2-8A79-221DCD137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D111CE-087E-4692-9DDF-76D4ECA9C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8D21A7-35D5-4BA3-B81C-B403A535F2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6B56C-A311-4857-9873-6338C79F79BF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F31AAF-4D90-4192-87A8-D436AC1AAE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355DFE-309A-4FF1-A5D5-CAD5E7FD1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BD38F-B2FB-4D06-8360-AFA147C31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8148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AD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6FA856-4311-4577-8BE9-7BED046C8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5330" y="2235200"/>
            <a:ext cx="6301339" cy="2387600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EFEBC0"/>
                </a:solidFill>
                <a:latin typeface="Arial Black" panose="020B0A04020102020204" pitchFamily="34" charset="0"/>
              </a:rPr>
              <a:t>Анализ предметной области аэропорт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A95FB6-2CEC-41A0-BDD5-F9F38FAE8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1142" y="5742677"/>
            <a:ext cx="3130858" cy="1655762"/>
          </a:xfrm>
        </p:spPr>
        <p:txBody>
          <a:bodyPr>
            <a:normAutofit/>
          </a:bodyPr>
          <a:lstStyle/>
          <a:p>
            <a:pPr algn="r"/>
            <a:r>
              <a:rPr lang="ru-RU" sz="1800" dirty="0">
                <a:solidFill>
                  <a:srgbClr val="EFEBC0"/>
                </a:solidFill>
                <a:latin typeface="Arial Black" panose="020B0A04020102020204" pitchFamily="34" charset="0"/>
              </a:rPr>
              <a:t>Выполнил</a:t>
            </a:r>
          </a:p>
          <a:p>
            <a:pPr algn="r"/>
            <a:r>
              <a:rPr lang="ru-RU" sz="1800" dirty="0">
                <a:solidFill>
                  <a:srgbClr val="EFEBC0"/>
                </a:solidFill>
                <a:latin typeface="Arial Black" panose="020B0A04020102020204" pitchFamily="34" charset="0"/>
              </a:rPr>
              <a:t>Студент группы ПР-41</a:t>
            </a:r>
          </a:p>
          <a:p>
            <a:pPr algn="r"/>
            <a:r>
              <a:rPr lang="ru-RU" sz="1800" dirty="0">
                <a:solidFill>
                  <a:srgbClr val="EFEBC0"/>
                </a:solidFill>
                <a:latin typeface="Arial Black" panose="020B0A04020102020204" pitchFamily="34" charset="0"/>
              </a:rPr>
              <a:t>Плоских Александр</a:t>
            </a:r>
          </a:p>
        </p:txBody>
      </p:sp>
    </p:spTree>
    <p:extLst>
      <p:ext uri="{BB962C8B-B14F-4D97-AF65-F5344CB8AC3E}">
        <p14:creationId xmlns:p14="http://schemas.microsoft.com/office/powerpoint/2010/main" val="36395379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E93852C-0974-46B5-B477-0DBD48076464}"/>
              </a:ext>
            </a:extLst>
          </p:cNvPr>
          <p:cNvSpPr/>
          <p:nvPr/>
        </p:nvSpPr>
        <p:spPr>
          <a:xfrm>
            <a:off x="7725878" y="-1"/>
            <a:ext cx="4466122" cy="6858000"/>
          </a:xfrm>
          <a:prstGeom prst="rect">
            <a:avLst/>
          </a:prstGeom>
          <a:solidFill>
            <a:srgbClr val="67A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67ADEB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03F2FF-48F5-4D5A-BB26-920739511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1625" y="1490662"/>
            <a:ext cx="3876675" cy="3876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14FB2D-0708-4B0A-8933-A1122B50AFC3}"/>
              </a:ext>
            </a:extLst>
          </p:cNvPr>
          <p:cNvSpPr txBox="1"/>
          <p:nvPr/>
        </p:nvSpPr>
        <p:spPr>
          <a:xfrm>
            <a:off x="7725878" y="2571234"/>
            <a:ext cx="446612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4400" dirty="0">
                <a:solidFill>
                  <a:srgbClr val="EFEBC0"/>
                </a:solidFill>
                <a:latin typeface="Arial Black" panose="020B0A04020102020204" pitchFamily="34" charset="0"/>
              </a:rPr>
              <a:t>Ссылка для просмотра диаграмм</a:t>
            </a:r>
          </a:p>
        </p:txBody>
      </p:sp>
    </p:spTree>
    <p:extLst>
      <p:ext uri="{BB962C8B-B14F-4D97-AF65-F5344CB8AC3E}">
        <p14:creationId xmlns:p14="http://schemas.microsoft.com/office/powerpoint/2010/main" val="1082308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DCB826C-B229-44BA-BC60-79FEC9DDC954}"/>
              </a:ext>
            </a:extLst>
          </p:cNvPr>
          <p:cNvSpPr/>
          <p:nvPr/>
        </p:nvSpPr>
        <p:spPr>
          <a:xfrm>
            <a:off x="0" y="0"/>
            <a:ext cx="4466122" cy="6858000"/>
          </a:xfrm>
          <a:prstGeom prst="rect">
            <a:avLst/>
          </a:prstGeom>
          <a:solidFill>
            <a:srgbClr val="67A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67ADEB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2EA2C0-37FB-4361-B647-C11A1B4D4DBC}"/>
              </a:ext>
            </a:extLst>
          </p:cNvPr>
          <p:cNvSpPr txBox="1"/>
          <p:nvPr/>
        </p:nvSpPr>
        <p:spPr>
          <a:xfrm>
            <a:off x="0" y="2505670"/>
            <a:ext cx="446612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dirty="0">
                <a:solidFill>
                  <a:srgbClr val="EFEBC0"/>
                </a:solidFill>
                <a:latin typeface="Arial Black" panose="020B0A04020102020204" pitchFamily="34" charset="0"/>
              </a:rPr>
              <a:t>Описание предметной области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48C748-D1D2-4A6A-BA94-990BA4982156}"/>
              </a:ext>
            </a:extLst>
          </p:cNvPr>
          <p:cNvSpPr txBox="1"/>
          <p:nvPr/>
        </p:nvSpPr>
        <p:spPr>
          <a:xfrm>
            <a:off x="5600300" y="797509"/>
            <a:ext cx="545912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67AD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Регистрация на рейс</a:t>
            </a:r>
            <a:r>
              <a:rPr lang="ru-RU" sz="2400" dirty="0">
                <a:solidFill>
                  <a:srgbClr val="67AD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это процесс подготовки пассажира к полёту.</a:t>
            </a:r>
          </a:p>
          <a:p>
            <a:br>
              <a:rPr lang="ru-RU" sz="2400" dirty="0">
                <a:solidFill>
                  <a:srgbClr val="67ADEB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rgbClr val="67AD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 включает проверку документов, выбор места, оформление багажа и выдачу посадочного талона.</a:t>
            </a:r>
          </a:p>
          <a:p>
            <a:br>
              <a:rPr lang="ru-RU" sz="2400" dirty="0">
                <a:solidFill>
                  <a:srgbClr val="67ADEB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rgbClr val="67AD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Регистрация может выполняться онлайн через сайт авиакомпании или на стойке в аэропорту.</a:t>
            </a:r>
          </a:p>
          <a:p>
            <a:br>
              <a:rPr lang="ru-RU" sz="2400" dirty="0">
                <a:solidFill>
                  <a:srgbClr val="67ADEB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rgbClr val="67AD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Результат — пассажир получает посадочный талон и статус «Зарегистрирован».</a:t>
            </a:r>
          </a:p>
        </p:txBody>
      </p:sp>
    </p:spTree>
    <p:extLst>
      <p:ext uri="{BB962C8B-B14F-4D97-AF65-F5344CB8AC3E}">
        <p14:creationId xmlns:p14="http://schemas.microsoft.com/office/powerpoint/2010/main" val="26247021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8F50250-FD10-44DD-9F63-2C1DD9F04B50}"/>
              </a:ext>
            </a:extLst>
          </p:cNvPr>
          <p:cNvSpPr/>
          <p:nvPr/>
        </p:nvSpPr>
        <p:spPr>
          <a:xfrm>
            <a:off x="7725878" y="0"/>
            <a:ext cx="4466122" cy="6858000"/>
          </a:xfrm>
          <a:prstGeom prst="rect">
            <a:avLst/>
          </a:prstGeom>
          <a:solidFill>
            <a:srgbClr val="67A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67ADEB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E17B46-8A44-4735-A869-4E154EB67773}"/>
              </a:ext>
            </a:extLst>
          </p:cNvPr>
          <p:cNvSpPr txBox="1"/>
          <p:nvPr/>
        </p:nvSpPr>
        <p:spPr>
          <a:xfrm>
            <a:off x="7752832" y="2705725"/>
            <a:ext cx="44391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4400" dirty="0">
                <a:solidFill>
                  <a:srgbClr val="EFEBC0"/>
                </a:solidFill>
                <a:latin typeface="Arial Black" panose="020B0A04020102020204" pitchFamily="34" charset="0"/>
              </a:rPr>
              <a:t>Участники процесса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86C0473-69CC-4C5C-8288-25907D661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619" y="591031"/>
            <a:ext cx="808723" cy="8087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62A4245-A565-4E0D-9326-4155FBA9785A}"/>
              </a:ext>
            </a:extLst>
          </p:cNvPr>
          <p:cNvSpPr txBox="1"/>
          <p:nvPr/>
        </p:nvSpPr>
        <p:spPr>
          <a:xfrm>
            <a:off x="1388118" y="810727"/>
            <a:ext cx="2171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4479D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Пассажир</a:t>
            </a:r>
            <a:endParaRPr lang="ru-RU" dirty="0">
              <a:solidFill>
                <a:srgbClr val="4479D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DA91BD-A964-4710-8348-C11A52E92944}"/>
              </a:ext>
            </a:extLst>
          </p:cNvPr>
          <p:cNvSpPr txBox="1"/>
          <p:nvPr/>
        </p:nvSpPr>
        <p:spPr>
          <a:xfrm>
            <a:off x="3645544" y="672228"/>
            <a:ext cx="39475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solidFill>
                  <a:srgbClr val="67AD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Проходит регистрацию, выбирает место, сдаёт багаж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2D2DF49-D325-4135-B2B5-60FB1144CA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9619" y="1816321"/>
            <a:ext cx="810000" cy="810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133E0FB-AC55-4477-AF66-D99AD400B75F}"/>
              </a:ext>
            </a:extLst>
          </p:cNvPr>
          <p:cNvSpPr txBox="1"/>
          <p:nvPr/>
        </p:nvSpPr>
        <p:spPr>
          <a:xfrm>
            <a:off x="1388117" y="2036655"/>
            <a:ext cx="22574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4479D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Сотрудник на стойке</a:t>
            </a:r>
            <a:endParaRPr lang="ru-RU" dirty="0">
              <a:solidFill>
                <a:srgbClr val="4479D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BFD67D-2371-4AF1-8BBB-AE1B8ACC5869}"/>
              </a:ext>
            </a:extLst>
          </p:cNvPr>
          <p:cNvSpPr txBox="1"/>
          <p:nvPr/>
        </p:nvSpPr>
        <p:spPr>
          <a:xfrm>
            <a:off x="3645544" y="1898155"/>
            <a:ext cx="39475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solidFill>
                  <a:srgbClr val="67AD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Проверяет документы, оформляет багаж, выдает посадочный талон.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55C359E8-84AA-474F-B7CE-74233E3514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9619" y="3042888"/>
            <a:ext cx="810000" cy="8100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56FCAFC-CCA4-4B8C-ABC3-7F75DAA06CE0}"/>
              </a:ext>
            </a:extLst>
          </p:cNvPr>
          <p:cNvSpPr txBox="1"/>
          <p:nvPr/>
        </p:nvSpPr>
        <p:spPr>
          <a:xfrm>
            <a:off x="1388117" y="3131193"/>
            <a:ext cx="21719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4479D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Официальный сайт авиакомпании</a:t>
            </a:r>
            <a:endParaRPr lang="ru-RU" dirty="0">
              <a:solidFill>
                <a:srgbClr val="4479D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52F04D-A8F8-4E3A-9917-2321F41E733A}"/>
              </a:ext>
            </a:extLst>
          </p:cNvPr>
          <p:cNvSpPr txBox="1"/>
          <p:nvPr/>
        </p:nvSpPr>
        <p:spPr>
          <a:xfrm>
            <a:off x="3645544" y="3092261"/>
            <a:ext cx="39475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solidFill>
                  <a:srgbClr val="67AD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Позволяет зарегистрироваться онлайн и выбрать место.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F9612C16-1EE5-4CE6-9171-5EA72406AD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8342" y="4269455"/>
            <a:ext cx="810000" cy="8100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2D4ACD17-0EBA-468A-9232-0C866C6747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8342" y="5496022"/>
            <a:ext cx="810000" cy="8100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BE22A834-08C8-4286-A5A4-5085FA5D2A28}"/>
              </a:ext>
            </a:extLst>
          </p:cNvPr>
          <p:cNvSpPr txBox="1"/>
          <p:nvPr/>
        </p:nvSpPr>
        <p:spPr>
          <a:xfrm>
            <a:off x="1361163" y="4351289"/>
            <a:ext cx="2171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4479D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 бронирования</a:t>
            </a:r>
            <a:endParaRPr lang="ru-RU" dirty="0">
              <a:solidFill>
                <a:srgbClr val="4479D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56E340-2753-4950-B139-8900F90068FE}"/>
              </a:ext>
            </a:extLst>
          </p:cNvPr>
          <p:cNvSpPr txBox="1"/>
          <p:nvPr/>
        </p:nvSpPr>
        <p:spPr>
          <a:xfrm>
            <a:off x="3645544" y="4351289"/>
            <a:ext cx="39475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solidFill>
                  <a:srgbClr val="67AD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Хранит информацию о рейсах и билетах.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2AE5FF-3B8C-4E7B-945D-43744E092DDA}"/>
              </a:ext>
            </a:extLst>
          </p:cNvPr>
          <p:cNvSpPr txBox="1"/>
          <p:nvPr/>
        </p:nvSpPr>
        <p:spPr>
          <a:xfrm>
            <a:off x="1388117" y="5577856"/>
            <a:ext cx="21719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4479D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Система обработки багажа</a:t>
            </a:r>
            <a:endParaRPr lang="ru-RU" dirty="0">
              <a:solidFill>
                <a:srgbClr val="4479D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62CB01C-465F-4FE3-A019-F5B7A99D4987}"/>
              </a:ext>
            </a:extLst>
          </p:cNvPr>
          <p:cNvSpPr txBox="1"/>
          <p:nvPr/>
        </p:nvSpPr>
        <p:spPr>
          <a:xfrm>
            <a:off x="3560072" y="5577855"/>
            <a:ext cx="40329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solidFill>
                  <a:srgbClr val="67AD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Принимает и сортирует зарегистрированный багаж</a:t>
            </a:r>
          </a:p>
        </p:txBody>
      </p:sp>
    </p:spTree>
    <p:extLst>
      <p:ext uri="{BB962C8B-B14F-4D97-AF65-F5344CB8AC3E}">
        <p14:creationId xmlns:p14="http://schemas.microsoft.com/office/powerpoint/2010/main" val="27446193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31A0005-DA5A-4CFF-B899-5CFBCE9476C8}"/>
              </a:ext>
            </a:extLst>
          </p:cNvPr>
          <p:cNvSpPr/>
          <p:nvPr/>
        </p:nvSpPr>
        <p:spPr>
          <a:xfrm>
            <a:off x="0" y="0"/>
            <a:ext cx="4466122" cy="6858000"/>
          </a:xfrm>
          <a:prstGeom prst="rect">
            <a:avLst/>
          </a:prstGeom>
          <a:solidFill>
            <a:srgbClr val="67A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67ADE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1AFB19-D32A-4984-BA28-5160F669A7DE}"/>
              </a:ext>
            </a:extLst>
          </p:cNvPr>
          <p:cNvSpPr txBox="1"/>
          <p:nvPr/>
        </p:nvSpPr>
        <p:spPr>
          <a:xfrm>
            <a:off x="0" y="2705725"/>
            <a:ext cx="446612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solidFill>
                  <a:srgbClr val="EFEBC0"/>
                </a:solidFill>
                <a:latin typeface="Arial Black" panose="020B0A04020102020204" pitchFamily="34" charset="0"/>
              </a:rPr>
              <a:t>Диаграмма прецедентов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FBA38D-63CA-4182-B0C2-3215EE134B16}"/>
              </a:ext>
            </a:extLst>
          </p:cNvPr>
          <p:cNvSpPr txBox="1"/>
          <p:nvPr/>
        </p:nvSpPr>
        <p:spPr>
          <a:xfrm>
            <a:off x="-1" y="4515858"/>
            <a:ext cx="44661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EFEB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Диаграмма показывает основных участников и их взаимодействие с системой регистрации.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1D4C99E-506E-43A7-8E0A-BAD2EA37809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0173" y="1141813"/>
            <a:ext cx="7115693" cy="45743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86858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949FA6D-AE55-440B-AE93-770994777FD1}"/>
              </a:ext>
            </a:extLst>
          </p:cNvPr>
          <p:cNvSpPr/>
          <p:nvPr/>
        </p:nvSpPr>
        <p:spPr>
          <a:xfrm>
            <a:off x="7725878" y="0"/>
            <a:ext cx="4466122" cy="6858000"/>
          </a:xfrm>
          <a:prstGeom prst="rect">
            <a:avLst/>
          </a:prstGeom>
          <a:solidFill>
            <a:srgbClr val="67A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67ADE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E44979-64B9-4A03-945A-F8555CEB32AC}"/>
              </a:ext>
            </a:extLst>
          </p:cNvPr>
          <p:cNvSpPr txBox="1"/>
          <p:nvPr/>
        </p:nvSpPr>
        <p:spPr>
          <a:xfrm>
            <a:off x="7725878" y="2487396"/>
            <a:ext cx="446612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4400" dirty="0">
                <a:solidFill>
                  <a:srgbClr val="EFEBC0"/>
                </a:solidFill>
                <a:latin typeface="Arial Black" panose="020B0A04020102020204" pitchFamily="34" charset="0"/>
              </a:rPr>
              <a:t>Диаграммы последовательности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5E0154-8715-431A-B526-4F5C267AAB82}"/>
              </a:ext>
            </a:extLst>
          </p:cNvPr>
          <p:cNvSpPr txBox="1"/>
          <p:nvPr/>
        </p:nvSpPr>
        <p:spPr>
          <a:xfrm>
            <a:off x="739066" y="1369783"/>
            <a:ext cx="60945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67AD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Диаграмма последовательности отражает пошаговое взаимодействие участников и систем во времени.</a:t>
            </a:r>
            <a:endParaRPr lang="en-US" dirty="0">
              <a:solidFill>
                <a:srgbClr val="67ADE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ru-RU" dirty="0">
                <a:solidFill>
                  <a:srgbClr val="67ADEB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rgbClr val="67AD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Она показывает, кто с кем обменивается сообщениями и в каком порядке выполняются действия.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5CFBD8-F1E1-47E6-8601-6BF6C37708D4}"/>
              </a:ext>
            </a:extLst>
          </p:cNvPr>
          <p:cNvSpPr txBox="1"/>
          <p:nvPr/>
        </p:nvSpPr>
        <p:spPr>
          <a:xfrm>
            <a:off x="739066" y="3841325"/>
            <a:ext cx="60945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67AD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работе представлены две диаграммы:</a:t>
            </a:r>
            <a:endParaRPr lang="en-US" dirty="0">
              <a:solidFill>
                <a:srgbClr val="67ADE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>
              <a:solidFill>
                <a:srgbClr val="67ADE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rgbClr val="67AD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Регистрация через сайт (онлайн) — самостоятельные действия пассажира.</a:t>
            </a:r>
            <a:endParaRPr lang="en-US" dirty="0">
              <a:solidFill>
                <a:srgbClr val="67ADE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endParaRPr lang="ru-RU" dirty="0">
              <a:solidFill>
                <a:srgbClr val="67ADE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+mj-lt"/>
              <a:buAutoNum type="arabicPeriod"/>
            </a:pPr>
            <a:r>
              <a:rPr lang="ru-RU" dirty="0">
                <a:solidFill>
                  <a:srgbClr val="67AD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Регистрация у стойки — взаимодействие пассажира с сотрудником авиакомпании.</a:t>
            </a:r>
          </a:p>
        </p:txBody>
      </p:sp>
    </p:spTree>
    <p:extLst>
      <p:ext uri="{BB962C8B-B14F-4D97-AF65-F5344CB8AC3E}">
        <p14:creationId xmlns:p14="http://schemas.microsoft.com/office/powerpoint/2010/main" val="15290953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5738395-A7A9-47CB-948E-9FC469867A49}"/>
              </a:ext>
            </a:extLst>
          </p:cNvPr>
          <p:cNvSpPr/>
          <p:nvPr/>
        </p:nvSpPr>
        <p:spPr>
          <a:xfrm>
            <a:off x="0" y="0"/>
            <a:ext cx="4467600" cy="6858000"/>
          </a:xfrm>
          <a:prstGeom prst="rect">
            <a:avLst/>
          </a:prstGeom>
          <a:solidFill>
            <a:srgbClr val="67A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67ADE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B32DB9-AF3D-4327-A404-794AC39A160C}"/>
              </a:ext>
            </a:extLst>
          </p:cNvPr>
          <p:cNvSpPr txBox="1"/>
          <p:nvPr/>
        </p:nvSpPr>
        <p:spPr>
          <a:xfrm>
            <a:off x="0" y="1798531"/>
            <a:ext cx="44676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solidFill>
                  <a:srgbClr val="EFEBC0"/>
                </a:solidFill>
                <a:latin typeface="Arial Black" panose="020B0A04020102020204" pitchFamily="34" charset="0"/>
              </a:rPr>
              <a:t>Диаграмма последовательности (онлайн)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9FBC8A-71FA-49AE-811F-B679F7A9B15B}"/>
              </a:ext>
            </a:extLst>
          </p:cNvPr>
          <p:cNvSpPr txBox="1"/>
          <p:nvPr/>
        </p:nvSpPr>
        <p:spPr>
          <a:xfrm>
            <a:off x="236824" y="6858000"/>
            <a:ext cx="341689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Описание:</a:t>
            </a:r>
            <a:br>
              <a:rPr lang="ru-RU" dirty="0"/>
            </a:br>
            <a:r>
              <a:rPr lang="ru-RU" dirty="0"/>
              <a:t>Пассажир заходит на сайт авиакомпании, вводит номер брони, выбирает место, указывает багаж и получает электронный посадочный талон на </a:t>
            </a:r>
            <a:r>
              <a:rPr lang="ru-RU" dirty="0" err="1"/>
              <a:t>e-mail</a:t>
            </a:r>
            <a:r>
              <a:rPr lang="ru-RU" dirty="0"/>
              <a:t>.</a:t>
            </a:r>
          </a:p>
          <a:p>
            <a:r>
              <a:rPr lang="ru-RU" b="1" dirty="0"/>
              <a:t>Результат:</a:t>
            </a:r>
            <a:br>
              <a:rPr lang="ru-RU" dirty="0"/>
            </a:br>
            <a:r>
              <a:rPr lang="ru-RU" dirty="0"/>
              <a:t>Пассажир зарегистрирован, данные переданы в систему багажа и безопасности.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822930C-52BC-43FF-8EBC-37CEB361837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579" y="923649"/>
            <a:ext cx="7553421" cy="50107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21548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8C08465-CB1C-4B38-B2C6-AC625B968BF0}"/>
              </a:ext>
            </a:extLst>
          </p:cNvPr>
          <p:cNvSpPr/>
          <p:nvPr/>
        </p:nvSpPr>
        <p:spPr>
          <a:xfrm>
            <a:off x="7724400" y="0"/>
            <a:ext cx="4467600" cy="6858000"/>
          </a:xfrm>
          <a:prstGeom prst="rect">
            <a:avLst/>
          </a:prstGeom>
          <a:solidFill>
            <a:srgbClr val="67A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67ADE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1EE318-75ED-4AA2-9033-4E0BB671271C}"/>
              </a:ext>
            </a:extLst>
          </p:cNvPr>
          <p:cNvSpPr txBox="1"/>
          <p:nvPr/>
        </p:nvSpPr>
        <p:spPr>
          <a:xfrm>
            <a:off x="7724400" y="1759235"/>
            <a:ext cx="44676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4400" dirty="0">
                <a:solidFill>
                  <a:srgbClr val="EFEBC0"/>
                </a:solidFill>
                <a:latin typeface="Arial Black" panose="020B0A04020102020204" pitchFamily="34" charset="0"/>
              </a:rPr>
              <a:t>Диаграмма последовательности (стойка)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7142FF-0B17-49B5-97CB-418B18AC99ED}"/>
              </a:ext>
            </a:extLst>
          </p:cNvPr>
          <p:cNvSpPr txBox="1"/>
          <p:nvPr/>
        </p:nvSpPr>
        <p:spPr>
          <a:xfrm>
            <a:off x="8012572" y="6909075"/>
            <a:ext cx="28881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Описание:</a:t>
            </a:r>
            <a:br>
              <a:rPr lang="ru-RU" dirty="0"/>
            </a:br>
            <a:r>
              <a:rPr lang="ru-RU" dirty="0"/>
              <a:t>Пассажир передаёт паспорт и билет сотруднику.</a:t>
            </a:r>
            <a:br>
              <a:rPr lang="ru-RU" dirty="0"/>
            </a:br>
            <a:r>
              <a:rPr lang="ru-RU" dirty="0"/>
              <a:t>Сотрудник проверяет данные, взвешивает багаж, назначает место и печатает посадочный талон.</a:t>
            </a:r>
          </a:p>
          <a:p>
            <a:r>
              <a:rPr lang="ru-RU" b="1" dirty="0"/>
              <a:t>Результат:</a:t>
            </a:r>
            <a:br>
              <a:rPr lang="ru-RU" dirty="0"/>
            </a:br>
            <a:r>
              <a:rPr lang="ru-RU" dirty="0"/>
              <a:t>Регистрация завершена, пассажир получает бумажный талон.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AFC3F63-072E-4610-B460-D98A5ACA2C4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44" y="838706"/>
            <a:ext cx="7526956" cy="51805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83372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6B12160-B121-4C7C-81AA-38C06ECBCBF4}"/>
              </a:ext>
            </a:extLst>
          </p:cNvPr>
          <p:cNvSpPr/>
          <p:nvPr/>
        </p:nvSpPr>
        <p:spPr>
          <a:xfrm>
            <a:off x="0" y="0"/>
            <a:ext cx="4466122" cy="6858000"/>
          </a:xfrm>
          <a:prstGeom prst="rect">
            <a:avLst/>
          </a:prstGeom>
          <a:solidFill>
            <a:srgbClr val="67A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67ADE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9C3826-26DF-4A7B-B012-E7A8FC2B1168}"/>
              </a:ext>
            </a:extLst>
          </p:cNvPr>
          <p:cNvSpPr txBox="1"/>
          <p:nvPr/>
        </p:nvSpPr>
        <p:spPr>
          <a:xfrm>
            <a:off x="0" y="2363992"/>
            <a:ext cx="456237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solidFill>
                  <a:srgbClr val="EFEBC0"/>
                </a:solidFill>
                <a:latin typeface="Arial Black" panose="020B0A04020102020204" pitchFamily="34" charset="0"/>
              </a:rPr>
              <a:t>Диаграмма деятельности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88B557-2F32-4D5B-892A-8B112AC27E53}"/>
              </a:ext>
            </a:extLst>
          </p:cNvPr>
          <p:cNvSpPr txBox="1"/>
          <p:nvPr/>
        </p:nvSpPr>
        <p:spPr>
          <a:xfrm>
            <a:off x="106567" y="4177750"/>
            <a:ext cx="42529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solidFill>
                  <a:srgbClr val="EFEB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Диаграмма показывает общий поток действий:</a:t>
            </a:r>
            <a:br>
              <a:rPr lang="ru-RU" dirty="0">
                <a:solidFill>
                  <a:srgbClr val="EFEB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rgbClr val="EFEB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начало → проверка документов → выбор места → оформление багажа → выдача талона → завершение.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C94A76D-50B9-4AF6-BB3E-EC18AAE33C0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55673"/>
            <a:ext cx="3978592" cy="115020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32110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6B12160-B121-4C7C-81AA-38C06ECBCBF4}"/>
              </a:ext>
            </a:extLst>
          </p:cNvPr>
          <p:cNvSpPr/>
          <p:nvPr/>
        </p:nvSpPr>
        <p:spPr>
          <a:xfrm>
            <a:off x="0" y="0"/>
            <a:ext cx="4466122" cy="6858000"/>
          </a:xfrm>
          <a:prstGeom prst="rect">
            <a:avLst/>
          </a:prstGeom>
          <a:solidFill>
            <a:srgbClr val="67A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67ADE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9C3826-26DF-4A7B-B012-E7A8FC2B1168}"/>
              </a:ext>
            </a:extLst>
          </p:cNvPr>
          <p:cNvSpPr txBox="1"/>
          <p:nvPr/>
        </p:nvSpPr>
        <p:spPr>
          <a:xfrm>
            <a:off x="0" y="2363992"/>
            <a:ext cx="456237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solidFill>
                  <a:srgbClr val="EFEBC0"/>
                </a:solidFill>
                <a:latin typeface="Arial Black" panose="020B0A04020102020204" pitchFamily="34" charset="0"/>
              </a:rPr>
              <a:t>Диаграмма деятельности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88B557-2F32-4D5B-892A-8B112AC27E53}"/>
              </a:ext>
            </a:extLst>
          </p:cNvPr>
          <p:cNvSpPr txBox="1"/>
          <p:nvPr/>
        </p:nvSpPr>
        <p:spPr>
          <a:xfrm>
            <a:off x="106567" y="4177750"/>
            <a:ext cx="42529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solidFill>
                  <a:srgbClr val="EFEB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Диаграмма показывает общий поток действий:</a:t>
            </a:r>
            <a:br>
              <a:rPr lang="ru-RU" dirty="0">
                <a:solidFill>
                  <a:srgbClr val="EFEB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rgbClr val="EFEB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начало → проверка документов → выбор места → оформление багажа → выдача талона → завершение.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C94A76D-50B9-4AF6-BB3E-EC18AAE33C0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-5306927"/>
            <a:ext cx="3978592" cy="115020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14172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8545E7C-421E-4F33-897F-AD428A8E37E9}"/>
              </a:ext>
            </a:extLst>
          </p:cNvPr>
          <p:cNvSpPr/>
          <p:nvPr/>
        </p:nvSpPr>
        <p:spPr>
          <a:xfrm>
            <a:off x="7725878" y="0"/>
            <a:ext cx="4466122" cy="6858000"/>
          </a:xfrm>
          <a:prstGeom prst="rect">
            <a:avLst/>
          </a:prstGeom>
          <a:solidFill>
            <a:srgbClr val="67A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67ADE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0D38C6-5578-4620-B13B-C4FA001C1567}"/>
              </a:ext>
            </a:extLst>
          </p:cNvPr>
          <p:cNvSpPr txBox="1"/>
          <p:nvPr/>
        </p:nvSpPr>
        <p:spPr>
          <a:xfrm>
            <a:off x="7725878" y="2705725"/>
            <a:ext cx="446612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4400" dirty="0">
                <a:solidFill>
                  <a:srgbClr val="EFEBC0"/>
                </a:solidFill>
                <a:latin typeface="Arial Black" panose="020B0A04020102020204" pitchFamily="34" charset="0"/>
              </a:rPr>
              <a:t>Диаграмма состояний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FA88923-E927-4762-9829-F2C322943B3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840" y="194627"/>
            <a:ext cx="3906520" cy="646874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C3DFFE-5DD4-4A6D-A1E5-EC5F2995E42E}"/>
              </a:ext>
            </a:extLst>
          </p:cNvPr>
          <p:cNvSpPr txBox="1"/>
          <p:nvPr/>
        </p:nvSpPr>
        <p:spPr>
          <a:xfrm>
            <a:off x="7725878" y="4330075"/>
            <a:ext cx="44661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>
                <a:solidFill>
                  <a:srgbClr val="EFEB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Отображает переходы состояния пассажира</a:t>
            </a:r>
          </a:p>
        </p:txBody>
      </p:sp>
    </p:spTree>
    <p:extLst>
      <p:ext uri="{BB962C8B-B14F-4D97-AF65-F5344CB8AC3E}">
        <p14:creationId xmlns:p14="http://schemas.microsoft.com/office/powerpoint/2010/main" val="12704705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73965E5-E827-4EC3-BEA4-26446FEDB59E}"/>
              </a:ext>
            </a:extLst>
          </p:cNvPr>
          <p:cNvSpPr/>
          <p:nvPr/>
        </p:nvSpPr>
        <p:spPr>
          <a:xfrm>
            <a:off x="0" y="0"/>
            <a:ext cx="4466122" cy="6858000"/>
          </a:xfrm>
          <a:prstGeom prst="rect">
            <a:avLst/>
          </a:prstGeom>
          <a:solidFill>
            <a:srgbClr val="67AD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67ADE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271851-CFE4-4F9B-8E0B-3C9FB18CA88F}"/>
              </a:ext>
            </a:extLst>
          </p:cNvPr>
          <p:cNvSpPr txBox="1"/>
          <p:nvPr/>
        </p:nvSpPr>
        <p:spPr>
          <a:xfrm>
            <a:off x="0" y="3044279"/>
            <a:ext cx="44661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dirty="0">
                <a:solidFill>
                  <a:srgbClr val="EFEBC0"/>
                </a:solidFill>
                <a:latin typeface="Arial Black" panose="020B0A04020102020204" pitchFamily="34" charset="0"/>
              </a:rPr>
              <a:t>Заключение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8EAB8-D55C-4368-9AB8-7FF01920286A}"/>
              </a:ext>
            </a:extLst>
          </p:cNvPr>
          <p:cNvSpPr txBox="1"/>
          <p:nvPr/>
        </p:nvSpPr>
        <p:spPr>
          <a:xfrm>
            <a:off x="5397500" y="2667000"/>
            <a:ext cx="5537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67AD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Выводы:</a:t>
            </a:r>
            <a:endParaRPr lang="ru-RU" sz="2400" dirty="0">
              <a:solidFill>
                <a:srgbClr val="67ADE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67AD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Определены ключевые участники и этапы регистрации.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67ADE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Разработаны UML-диаграммы, отражающие процесс работы.</a:t>
            </a:r>
          </a:p>
        </p:txBody>
      </p:sp>
    </p:spTree>
    <p:extLst>
      <p:ext uri="{BB962C8B-B14F-4D97-AF65-F5344CB8AC3E}">
        <p14:creationId xmlns:p14="http://schemas.microsoft.com/office/powerpoint/2010/main" val="22291021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349</Words>
  <Application>Microsoft Office PowerPoint</Application>
  <PresentationFormat>Широкоэкранный</PresentationFormat>
  <Paragraphs>47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Тема Office</vt:lpstr>
      <vt:lpstr>Анализ предметной области аэропорт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предметной области аэропорт</dc:title>
  <dc:creator>Александр Плоских</dc:creator>
  <cp:lastModifiedBy>Александр Плоских</cp:lastModifiedBy>
  <cp:revision>11</cp:revision>
  <dcterms:created xsi:type="dcterms:W3CDTF">2025-11-10T22:40:53Z</dcterms:created>
  <dcterms:modified xsi:type="dcterms:W3CDTF">2025-11-10T23:59:34Z</dcterms:modified>
</cp:coreProperties>
</file>