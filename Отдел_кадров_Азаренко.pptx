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81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210050"/>
            <a:ext cx="12192000" cy="2647950"/>
          </a:xfrm>
          <a:custGeom>
            <a:avLst/>
            <a:gdLst/>
            <a:ahLst/>
            <a:cxnLst/>
            <a:rect l="l" t="t" r="r" b="b"/>
            <a:pathLst>
              <a:path w="12192000" h="2647950">
                <a:moveTo>
                  <a:pt x="12192000" y="0"/>
                </a:moveTo>
                <a:lnTo>
                  <a:pt x="0" y="0"/>
                </a:lnTo>
                <a:lnTo>
                  <a:pt x="0" y="2647950"/>
                </a:lnTo>
                <a:lnTo>
                  <a:pt x="12192000" y="26479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8104" y="1235709"/>
            <a:ext cx="8495791" cy="2566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370444" y="4537814"/>
            <a:ext cx="4158615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2266950"/>
          </a:xfrm>
          <a:custGeom>
            <a:avLst/>
            <a:gdLst/>
            <a:ahLst/>
            <a:cxnLst/>
            <a:rect l="l" t="t" r="r" b="b"/>
            <a:pathLst>
              <a:path w="12192000" h="2266950">
                <a:moveTo>
                  <a:pt x="12192000" y="0"/>
                </a:moveTo>
                <a:lnTo>
                  <a:pt x="0" y="0"/>
                </a:lnTo>
                <a:lnTo>
                  <a:pt x="0" y="2266950"/>
                </a:lnTo>
                <a:lnTo>
                  <a:pt x="12192000" y="22669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9812" y="131063"/>
            <a:ext cx="9900920" cy="18418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9812" y="2409257"/>
            <a:ext cx="9446260" cy="3688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848104" y="1219200"/>
            <a:ext cx="8495791" cy="2506968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312420" marR="5080" indent="-300355">
              <a:lnSpc>
                <a:spcPts val="9460"/>
              </a:lnSpc>
              <a:spcBef>
                <a:spcPts val="1285"/>
              </a:spcBef>
            </a:pPr>
            <a:r>
              <a:rPr sz="7200" b="0" spc="-300" dirty="0">
                <a:solidFill>
                  <a:srgbClr val="000000"/>
                </a:solidFill>
              </a:rPr>
              <a:t>UML</a:t>
            </a:r>
            <a:r>
              <a:rPr lang="ru-RU" sz="7200" b="0" spc="-300" dirty="0">
                <a:solidFill>
                  <a:srgbClr val="000000"/>
                </a:solidFill>
              </a:rPr>
              <a:t>-</a:t>
            </a:r>
            <a:r>
              <a:rPr sz="7200" b="0" spc="-300" dirty="0">
                <a:solidFill>
                  <a:srgbClr val="000000"/>
                </a:solidFill>
              </a:rPr>
              <a:t>ДИАГРАММЫ "ОТДЕЛ КАДРОВ"</a:t>
            </a:r>
            <a:endParaRPr sz="7200" b="0" spc="-300"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5600"/>
              </a:lnSpc>
              <a:spcBef>
                <a:spcPts val="90"/>
              </a:spcBef>
            </a:pPr>
            <a:r>
              <a:rPr sz="2750" spc="60" dirty="0">
                <a:solidFill>
                  <a:srgbClr val="FFFFFF"/>
                </a:solidFill>
              </a:rPr>
              <a:t>Выполнил:</a:t>
            </a:r>
            <a:r>
              <a:rPr sz="2750" spc="105" dirty="0">
                <a:solidFill>
                  <a:srgbClr val="FFFFFF"/>
                </a:solidFill>
              </a:rPr>
              <a:t> </a:t>
            </a:r>
            <a:r>
              <a:rPr sz="2750" spc="60" dirty="0">
                <a:solidFill>
                  <a:srgbClr val="FFFFFF"/>
                </a:solidFill>
              </a:rPr>
              <a:t>Азаренко</a:t>
            </a:r>
            <a:r>
              <a:rPr sz="2750" spc="125" dirty="0">
                <a:solidFill>
                  <a:srgbClr val="FFFFFF"/>
                </a:solidFill>
              </a:rPr>
              <a:t> </a:t>
            </a:r>
            <a:r>
              <a:rPr sz="2750" spc="35" dirty="0">
                <a:solidFill>
                  <a:srgbClr val="FFFFFF"/>
                </a:solidFill>
              </a:rPr>
              <a:t>М.В. </a:t>
            </a:r>
            <a:r>
              <a:rPr sz="2750" dirty="0">
                <a:solidFill>
                  <a:srgbClr val="FFFFFF"/>
                </a:solidFill>
              </a:rPr>
              <a:t>Группа:</a:t>
            </a:r>
            <a:r>
              <a:rPr sz="2750" spc="315" dirty="0">
                <a:solidFill>
                  <a:srgbClr val="FFFFFF"/>
                </a:solidFill>
              </a:rPr>
              <a:t> </a:t>
            </a:r>
            <a:r>
              <a:rPr sz="2750" spc="70" dirty="0">
                <a:solidFill>
                  <a:srgbClr val="FFFFFF"/>
                </a:solidFill>
              </a:rPr>
              <a:t>ПР-</a:t>
            </a:r>
            <a:r>
              <a:rPr sz="2750" spc="-25" dirty="0">
                <a:solidFill>
                  <a:srgbClr val="FFFFFF"/>
                </a:solidFill>
              </a:rPr>
              <a:t>41</a:t>
            </a:r>
            <a:endParaRPr sz="2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6787" y="319150"/>
            <a:ext cx="10267950" cy="1704975"/>
          </a:xfrm>
          <a:custGeom>
            <a:avLst/>
            <a:gdLst/>
            <a:ahLst/>
            <a:cxnLst/>
            <a:rect l="l" t="t" r="r" b="b"/>
            <a:pathLst>
              <a:path w="10267950" h="1704975">
                <a:moveTo>
                  <a:pt x="0" y="1704975"/>
                </a:moveTo>
                <a:lnTo>
                  <a:pt x="10267950" y="1704975"/>
                </a:lnTo>
                <a:lnTo>
                  <a:pt x="10267950" y="0"/>
                </a:lnTo>
                <a:lnTo>
                  <a:pt x="0" y="0"/>
                </a:lnTo>
                <a:lnTo>
                  <a:pt x="0" y="17049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235" y="190781"/>
            <a:ext cx="10618788" cy="1409745"/>
          </a:xfrm>
          <a:prstGeom prst="rect">
            <a:avLst/>
          </a:prstGeom>
        </p:spPr>
        <p:txBody>
          <a:bodyPr vert="horz" wrap="square" lIns="0" tIns="7255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70" dirty="0"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  <a:r>
              <a:rPr sz="4400" spc="3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55" dirty="0">
                <a:latin typeface="Arial" panose="020B0604020202020204" pitchFamily="34" charset="0"/>
                <a:cs typeface="Arial" panose="020B0604020202020204" pitchFamily="34" charset="0"/>
              </a:rPr>
              <a:t>ПРЕДМЕТНОЙ</a:t>
            </a:r>
            <a:r>
              <a:rPr sz="4400" spc="3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0" dirty="0">
                <a:latin typeface="Arial" panose="020B0604020202020204" pitchFamily="34" charset="0"/>
                <a:cs typeface="Arial" panose="020B0604020202020204" pitchFamily="34" charset="0"/>
              </a:rPr>
              <a:t>ОБЛАСТИ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9812" y="2586672"/>
            <a:ext cx="10033635" cy="24917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Данный</a:t>
            </a:r>
            <a:r>
              <a:rPr sz="3200" spc="3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функциональный</a:t>
            </a:r>
            <a:r>
              <a:rPr sz="3200" spc="3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блок</a:t>
            </a:r>
            <a:r>
              <a:rPr sz="3200" spc="3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описывает</a:t>
            </a:r>
            <a:r>
              <a:rPr sz="3200" spc="2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комплексный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технологический</a:t>
            </a:r>
            <a:r>
              <a:rPr sz="3200" spc="2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spc="45" dirty="0">
                <a:solidFill>
                  <a:srgbClr val="0E1115"/>
                </a:solidFill>
                <a:latin typeface="Times New Roman"/>
                <a:cs typeface="Times New Roman"/>
              </a:rPr>
              <a:t>процесс</a:t>
            </a:r>
            <a:r>
              <a:rPr sz="3200" spc="27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трудоустройства</a:t>
            </a:r>
            <a:r>
              <a:rPr sz="3200" spc="2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E1115"/>
                </a:solidFill>
                <a:latin typeface="Times New Roman"/>
                <a:cs typeface="Times New Roman"/>
              </a:rPr>
              <a:t>нового</a:t>
            </a:r>
            <a:endParaRPr sz="3200">
              <a:latin typeface="Times New Roman"/>
              <a:cs typeface="Times New Roman"/>
            </a:endParaRPr>
          </a:p>
          <a:p>
            <a:pPr marL="12700" marR="146685">
              <a:lnSpc>
                <a:spcPts val="3900"/>
              </a:lnSpc>
              <a:spcBef>
                <a:spcPts val="45"/>
              </a:spcBef>
            </a:pP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специалиста</a:t>
            </a:r>
            <a:r>
              <a:rPr sz="3200" spc="2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3200" spc="1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компанию,</a:t>
            </a:r>
            <a:r>
              <a:rPr sz="3200" spc="1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начиная</a:t>
            </a:r>
            <a:r>
              <a:rPr sz="3200" spc="1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3200" spc="204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момента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возникновения</a:t>
            </a:r>
            <a:r>
              <a:rPr sz="3200" spc="3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кадровой</a:t>
            </a:r>
            <a:r>
              <a:rPr sz="3200" spc="3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потребности</a:t>
            </a:r>
            <a:r>
              <a:rPr sz="3200" spc="2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3200" spc="3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заканчивая</a:t>
            </a:r>
            <a:r>
              <a:rPr sz="3200" spc="3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E1115"/>
                </a:solidFill>
                <a:latin typeface="Times New Roman"/>
                <a:cs typeface="Times New Roman"/>
              </a:rPr>
              <a:t>его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полной</a:t>
            </a:r>
            <a:r>
              <a:rPr sz="3200" spc="1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интеграцией</a:t>
            </a:r>
            <a:r>
              <a:rPr sz="3200" spc="1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3200" spc="1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коллектив</a:t>
            </a:r>
            <a:r>
              <a:rPr sz="3200" spc="17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3200" spc="1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E1115"/>
                </a:solidFill>
                <a:latin typeface="Times New Roman"/>
                <a:cs typeface="Times New Roman"/>
              </a:rPr>
              <a:t>рабочие</a:t>
            </a:r>
            <a:r>
              <a:rPr sz="3200" spc="1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процессы.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812" y="131063"/>
            <a:ext cx="9900920" cy="1862368"/>
          </a:xfrm>
          <a:prstGeom prst="rect">
            <a:avLst/>
          </a:prstGeom>
        </p:spPr>
        <p:txBody>
          <a:bodyPr vert="horz" wrap="square" lIns="0" tIns="218757" rIns="0" bIns="0" rtlCol="0">
            <a:spAutoFit/>
          </a:bodyPr>
          <a:lstStyle/>
          <a:p>
            <a:pPr marL="12700" marR="5080">
              <a:lnSpc>
                <a:spcPts val="6380"/>
              </a:lnSpc>
              <a:spcBef>
                <a:spcPts val="925"/>
              </a:spcBef>
            </a:pPr>
            <a:r>
              <a:rPr sz="5900" b="0" spc="-300" dirty="0"/>
              <a:t>КЛЮЧЕВЫЕ</a:t>
            </a:r>
            <a:r>
              <a:rPr lang="ru-RU" sz="5900" b="0" spc="-300" dirty="0"/>
              <a:t> </a:t>
            </a:r>
            <a:r>
              <a:rPr sz="5900" b="0" spc="-300" dirty="0"/>
              <a:t>УЧАСТНИКИ</a:t>
            </a:r>
            <a:r>
              <a:rPr lang="en-US" sz="5900" b="0" spc="-300" dirty="0"/>
              <a:t> </a:t>
            </a:r>
            <a:r>
              <a:rPr sz="5900" b="0" spc="-300" dirty="0"/>
              <a:t>ПРОЦЕССА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9812" y="2292805"/>
            <a:ext cx="9819640" cy="387985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80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Руководитель</a:t>
            </a:r>
            <a:r>
              <a:rPr sz="2400" spc="34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подразделения</a:t>
            </a:r>
            <a:r>
              <a:rPr sz="2400" spc="4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-</a:t>
            </a:r>
            <a:r>
              <a:rPr sz="2400" spc="3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Ключевой</a:t>
            </a:r>
            <a:r>
              <a:rPr sz="2400" spc="3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инициатор</a:t>
            </a:r>
            <a:r>
              <a:rPr sz="2400" spc="3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процесса.</a:t>
            </a:r>
            <a:endParaRPr sz="2400">
              <a:latin typeface="Franklin Gothic Medium"/>
              <a:cs typeface="Franklin Gothic Medium"/>
            </a:endParaRPr>
          </a:p>
          <a:p>
            <a:pPr marL="469900" marR="436880" indent="-457834">
              <a:lnSpc>
                <a:spcPts val="2330"/>
              </a:lnSpc>
              <a:spcBef>
                <a:spcPts val="1410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Менеджер</a:t>
            </a:r>
            <a:r>
              <a:rPr sz="2400" spc="3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по</a:t>
            </a:r>
            <a:r>
              <a:rPr sz="2400" spc="409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подбору</a:t>
            </a:r>
            <a:r>
              <a:rPr sz="2400" spc="2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персонала:</a:t>
            </a:r>
            <a:r>
              <a:rPr sz="2400" spc="33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Исполнитель,</a:t>
            </a:r>
            <a:r>
              <a:rPr sz="2400" spc="33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отвечающий</a:t>
            </a:r>
            <a:r>
              <a:rPr sz="2400" spc="33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за </a:t>
            </a:r>
            <a:r>
              <a:rPr sz="2400" dirty="0">
                <a:latin typeface="Franklin Gothic Medium"/>
                <a:cs typeface="Franklin Gothic Medium"/>
              </a:rPr>
              <a:t>операционную</a:t>
            </a:r>
            <a:r>
              <a:rPr sz="2400" spc="3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часть</a:t>
            </a:r>
            <a:r>
              <a:rPr sz="2400" spc="40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поиска.</a:t>
            </a:r>
            <a:endParaRPr sz="2400">
              <a:latin typeface="Franklin Gothic Medium"/>
              <a:cs typeface="Franklin Gothic Medium"/>
            </a:endParaRPr>
          </a:p>
          <a:p>
            <a:pPr marL="469900" marR="727075" indent="-457834">
              <a:lnSpc>
                <a:spcPts val="2400"/>
              </a:lnSpc>
              <a:spcBef>
                <a:spcPts val="1290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Сотрудник</a:t>
            </a:r>
            <a:r>
              <a:rPr sz="2400" spc="2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отдела</a:t>
            </a:r>
            <a:r>
              <a:rPr sz="2400" spc="3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кадров:</a:t>
            </a:r>
            <a:r>
              <a:rPr sz="2400" spc="31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Специалист,</a:t>
            </a:r>
            <a:r>
              <a:rPr sz="2400" spc="32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обеспечивающий </a:t>
            </a:r>
            <a:r>
              <a:rPr sz="2400" dirty="0">
                <a:latin typeface="Franklin Gothic Medium"/>
                <a:cs typeface="Franklin Gothic Medium"/>
              </a:rPr>
              <a:t>юридическое</a:t>
            </a:r>
            <a:r>
              <a:rPr sz="2400" spc="42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</a:t>
            </a:r>
            <a:r>
              <a:rPr sz="2400" spc="44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административное</a:t>
            </a:r>
            <a:r>
              <a:rPr sz="2400" spc="42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сопровождение</a:t>
            </a:r>
            <a:r>
              <a:rPr sz="2400" spc="4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процесса.</a:t>
            </a:r>
            <a:endParaRPr sz="2400">
              <a:latin typeface="Franklin Gothic Medium"/>
              <a:cs typeface="Franklin Gothic Medium"/>
            </a:endParaRPr>
          </a:p>
          <a:p>
            <a:pPr marL="469900" indent="-457200">
              <a:lnSpc>
                <a:spcPts val="2605"/>
              </a:lnSpc>
              <a:spcBef>
                <a:spcPts val="80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Кандидат:</a:t>
            </a:r>
            <a:r>
              <a:rPr sz="2400" spc="31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Внешний</a:t>
            </a:r>
            <a:r>
              <a:rPr sz="2400" spc="3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или</a:t>
            </a:r>
            <a:r>
              <a:rPr sz="2400" spc="3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внутренний</a:t>
            </a:r>
            <a:r>
              <a:rPr sz="2400" spc="3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соискатель</a:t>
            </a:r>
            <a:r>
              <a:rPr sz="2400" spc="3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на</a:t>
            </a:r>
            <a:r>
              <a:rPr sz="2400" spc="25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открытую</a:t>
            </a:r>
            <a:endParaRPr sz="2400">
              <a:latin typeface="Franklin Gothic Medium"/>
              <a:cs typeface="Franklin Gothic Medium"/>
            </a:endParaRPr>
          </a:p>
          <a:p>
            <a:pPr marL="469900">
              <a:lnSpc>
                <a:spcPts val="2605"/>
              </a:lnSpc>
            </a:pPr>
            <a:r>
              <a:rPr sz="2400" spc="-10" dirty="0">
                <a:latin typeface="Franklin Gothic Medium"/>
                <a:cs typeface="Franklin Gothic Medium"/>
              </a:rPr>
              <a:t>позицию.</a:t>
            </a:r>
            <a:endParaRPr sz="2400">
              <a:latin typeface="Franklin Gothic Medium"/>
              <a:cs typeface="Franklin Gothic Medium"/>
            </a:endParaRPr>
          </a:p>
          <a:p>
            <a:pPr marL="469900" marR="5080" indent="-457834">
              <a:lnSpc>
                <a:spcPts val="2330"/>
              </a:lnSpc>
              <a:spcBef>
                <a:spcPts val="141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Система</a:t>
            </a:r>
            <a:r>
              <a:rPr sz="2400" spc="4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учета</a:t>
            </a:r>
            <a:r>
              <a:rPr sz="2400" spc="4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персонала:</a:t>
            </a:r>
            <a:r>
              <a:rPr sz="2400" spc="4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Автоматизированная</a:t>
            </a:r>
            <a:r>
              <a:rPr sz="2400" spc="4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информационная </a:t>
            </a:r>
            <a:r>
              <a:rPr sz="2400" dirty="0">
                <a:latin typeface="Franklin Gothic Medium"/>
                <a:cs typeface="Franklin Gothic Medium"/>
              </a:rPr>
              <a:t>система,</a:t>
            </a:r>
            <a:r>
              <a:rPr sz="2400" spc="2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выступающая</a:t>
            </a:r>
            <a:r>
              <a:rPr sz="2400" spc="2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</a:t>
            </a:r>
            <a:r>
              <a:rPr sz="2400" spc="3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роли</a:t>
            </a:r>
            <a:r>
              <a:rPr sz="2400" spc="2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инструмента</a:t>
            </a:r>
            <a:r>
              <a:rPr sz="2400" spc="32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</a:t>
            </a:r>
            <a:r>
              <a:rPr sz="2400" spc="2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среды</a:t>
            </a:r>
            <a:r>
              <a:rPr sz="2400" spc="23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для </a:t>
            </a:r>
            <a:r>
              <a:rPr sz="2400" dirty="0">
                <a:latin typeface="Franklin Gothic Medium"/>
                <a:cs typeface="Franklin Gothic Medium"/>
              </a:rPr>
              <a:t>выполнения</a:t>
            </a:r>
            <a:r>
              <a:rPr sz="2400" spc="41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процесса.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11582400" cy="1482842"/>
          </a:xfrm>
          <a:prstGeom prst="rect">
            <a:avLst/>
          </a:prstGeom>
        </p:spPr>
        <p:txBody>
          <a:bodyPr vert="horz" wrap="square" lIns="0" tIns="4626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0" spc="-300" dirty="0"/>
              <a:t>ДИАГРАММА</a:t>
            </a:r>
            <a:r>
              <a:rPr lang="en-US" b="0" spc="-300" dirty="0"/>
              <a:t> </a:t>
            </a:r>
            <a:r>
              <a:rPr b="0" spc="-300" dirty="0"/>
              <a:t>ПРЕЦЕДЕНТОВ</a:t>
            </a:r>
            <a:r>
              <a:rPr lang="ru-RU" b="0" spc="-300" dirty="0"/>
              <a:t> </a:t>
            </a:r>
            <a:endParaRPr b="0" spc="-300" dirty="0"/>
          </a:p>
        </p:txBody>
      </p:sp>
      <p:sp>
        <p:nvSpPr>
          <p:cNvPr id="3" name="object 3"/>
          <p:cNvSpPr txBox="1"/>
          <p:nvPr/>
        </p:nvSpPr>
        <p:spPr>
          <a:xfrm>
            <a:off x="1039812" y="2595499"/>
            <a:ext cx="9733280" cy="35687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50"/>
              </a:spcBef>
            </a:pPr>
            <a:r>
              <a:rPr sz="2750" spc="55" dirty="0">
                <a:latin typeface="Franklin Gothic Medium"/>
                <a:cs typeface="Franklin Gothic Medium"/>
              </a:rPr>
              <a:t>Диаграмма</a:t>
            </a:r>
            <a:r>
              <a:rPr sz="2750" spc="145" dirty="0">
                <a:latin typeface="Franklin Gothic Medium"/>
                <a:cs typeface="Franklin Gothic Medium"/>
              </a:rPr>
              <a:t> </a:t>
            </a:r>
            <a:r>
              <a:rPr sz="2750" spc="55" dirty="0">
                <a:latin typeface="Franklin Gothic Medium"/>
                <a:cs typeface="Franklin Gothic Medium"/>
              </a:rPr>
              <a:t>прецедентов</a:t>
            </a:r>
            <a:r>
              <a:rPr sz="2750" spc="235" dirty="0">
                <a:latin typeface="Franklin Gothic Medium"/>
                <a:cs typeface="Franklin Gothic Medium"/>
              </a:rPr>
              <a:t> </a:t>
            </a:r>
            <a:r>
              <a:rPr sz="2750" dirty="0">
                <a:latin typeface="Franklin Gothic Medium"/>
                <a:cs typeface="Franklin Gothic Medium"/>
              </a:rPr>
              <a:t>-</a:t>
            </a:r>
            <a:r>
              <a:rPr sz="2750" spc="140" dirty="0">
                <a:latin typeface="Franklin Gothic Medium"/>
                <a:cs typeface="Franklin Gothic Medium"/>
              </a:rPr>
              <a:t> </a:t>
            </a:r>
            <a:r>
              <a:rPr sz="2750" spc="60" dirty="0">
                <a:latin typeface="Franklin Gothic Medium"/>
                <a:cs typeface="Franklin Gothic Medium"/>
              </a:rPr>
              <a:t>показывает</a:t>
            </a:r>
            <a:r>
              <a:rPr sz="2750" spc="170" dirty="0">
                <a:latin typeface="Franklin Gothic Medium"/>
                <a:cs typeface="Franklin Gothic Medium"/>
              </a:rPr>
              <a:t> </a:t>
            </a:r>
            <a:r>
              <a:rPr sz="2750" spc="50" dirty="0">
                <a:latin typeface="Franklin Gothic Medium"/>
                <a:cs typeface="Franklin Gothic Medium"/>
              </a:rPr>
              <a:t>взаимодействие </a:t>
            </a:r>
            <a:r>
              <a:rPr sz="2750" spc="55" dirty="0">
                <a:latin typeface="Franklin Gothic Medium"/>
                <a:cs typeface="Franklin Gothic Medium"/>
              </a:rPr>
              <a:t>внешних</a:t>
            </a:r>
            <a:r>
              <a:rPr sz="2750" spc="125" dirty="0">
                <a:latin typeface="Franklin Gothic Medium"/>
                <a:cs typeface="Franklin Gothic Medium"/>
              </a:rPr>
              <a:t> </a:t>
            </a:r>
            <a:r>
              <a:rPr sz="2750" spc="55" dirty="0">
                <a:latin typeface="Franklin Gothic Medium"/>
                <a:cs typeface="Franklin Gothic Medium"/>
              </a:rPr>
              <a:t>участников</a:t>
            </a:r>
            <a:r>
              <a:rPr sz="2750" spc="175" dirty="0">
                <a:latin typeface="Franklin Gothic Medium"/>
                <a:cs typeface="Franklin Gothic Medium"/>
              </a:rPr>
              <a:t> </a:t>
            </a:r>
            <a:r>
              <a:rPr sz="2750" dirty="0">
                <a:latin typeface="Franklin Gothic Medium"/>
                <a:cs typeface="Franklin Gothic Medium"/>
              </a:rPr>
              <a:t>с</a:t>
            </a:r>
            <a:r>
              <a:rPr sz="2750" spc="130" dirty="0">
                <a:latin typeface="Franklin Gothic Medium"/>
                <a:cs typeface="Franklin Gothic Medium"/>
              </a:rPr>
              <a:t> </a:t>
            </a:r>
            <a:r>
              <a:rPr sz="2750" spc="60" dirty="0">
                <a:latin typeface="Franklin Gothic Medium"/>
                <a:cs typeface="Franklin Gothic Medium"/>
              </a:rPr>
              <a:t>системой</a:t>
            </a:r>
            <a:r>
              <a:rPr sz="2750" spc="120" dirty="0">
                <a:latin typeface="Franklin Gothic Medium"/>
                <a:cs typeface="Franklin Gothic Medium"/>
              </a:rPr>
              <a:t> </a:t>
            </a:r>
            <a:r>
              <a:rPr sz="2750" spc="55" dirty="0">
                <a:latin typeface="Franklin Gothic Medium"/>
                <a:cs typeface="Franklin Gothic Medium"/>
              </a:rPr>
              <a:t>через</a:t>
            </a:r>
            <a:r>
              <a:rPr sz="2750" spc="135" dirty="0">
                <a:latin typeface="Franklin Gothic Medium"/>
                <a:cs typeface="Franklin Gothic Medium"/>
              </a:rPr>
              <a:t> </a:t>
            </a:r>
            <a:r>
              <a:rPr sz="2750" spc="60" dirty="0">
                <a:latin typeface="Franklin Gothic Medium"/>
                <a:cs typeface="Franklin Gothic Medium"/>
              </a:rPr>
              <a:t>ключевые</a:t>
            </a:r>
            <a:r>
              <a:rPr sz="2750" spc="120" dirty="0">
                <a:latin typeface="Franklin Gothic Medium"/>
                <a:cs typeface="Franklin Gothic Medium"/>
              </a:rPr>
              <a:t> </a:t>
            </a:r>
            <a:r>
              <a:rPr sz="2750" spc="50" dirty="0">
                <a:latin typeface="Franklin Gothic Medium"/>
                <a:cs typeface="Franklin Gothic Medium"/>
              </a:rPr>
              <a:t>сценарии </a:t>
            </a:r>
            <a:r>
              <a:rPr sz="2750" spc="45" dirty="0">
                <a:latin typeface="Franklin Gothic Medium"/>
                <a:cs typeface="Franklin Gothic Medium"/>
              </a:rPr>
              <a:t>использования.</a:t>
            </a:r>
            <a:endParaRPr sz="275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750" spc="50" dirty="0">
                <a:latin typeface="Franklin Gothic Medium"/>
                <a:cs typeface="Franklin Gothic Medium"/>
              </a:rPr>
              <a:t>Что</a:t>
            </a:r>
            <a:r>
              <a:rPr sz="2750" spc="85" dirty="0">
                <a:latin typeface="Franklin Gothic Medium"/>
                <a:cs typeface="Franklin Gothic Medium"/>
              </a:rPr>
              <a:t> </a:t>
            </a:r>
            <a:r>
              <a:rPr sz="2750" spc="50" dirty="0">
                <a:latin typeface="Franklin Gothic Medium"/>
                <a:cs typeface="Franklin Gothic Medium"/>
              </a:rPr>
              <a:t>отображает:</a:t>
            </a:r>
            <a:endParaRPr sz="275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50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750" spc="55" dirty="0">
                <a:latin typeface="Franklin Gothic Medium"/>
                <a:cs typeface="Franklin Gothic Medium"/>
              </a:rPr>
              <a:t>Актеры</a:t>
            </a:r>
            <a:r>
              <a:rPr sz="2750" spc="165" dirty="0">
                <a:latin typeface="Franklin Gothic Medium"/>
                <a:cs typeface="Franklin Gothic Medium"/>
              </a:rPr>
              <a:t> </a:t>
            </a:r>
            <a:r>
              <a:rPr sz="2750" spc="60" dirty="0">
                <a:latin typeface="Franklin Gothic Medium"/>
                <a:cs typeface="Franklin Gothic Medium"/>
              </a:rPr>
              <a:t>(роли):</a:t>
            </a:r>
            <a:r>
              <a:rPr sz="2750" spc="100" dirty="0">
                <a:latin typeface="Franklin Gothic Medium"/>
                <a:cs typeface="Franklin Gothic Medium"/>
              </a:rPr>
              <a:t> </a:t>
            </a:r>
            <a:r>
              <a:rPr sz="2750" spc="45" dirty="0">
                <a:latin typeface="Franklin Gothic Medium"/>
                <a:cs typeface="Franklin Gothic Medium"/>
              </a:rPr>
              <a:t>Кандидат,</a:t>
            </a:r>
            <a:r>
              <a:rPr sz="2750" spc="180" dirty="0">
                <a:latin typeface="Franklin Gothic Medium"/>
                <a:cs typeface="Franklin Gothic Medium"/>
              </a:rPr>
              <a:t> </a:t>
            </a:r>
            <a:r>
              <a:rPr sz="2750" spc="50" dirty="0">
                <a:latin typeface="Franklin Gothic Medium"/>
                <a:cs typeface="Franklin Gothic Medium"/>
              </a:rPr>
              <a:t>Сотрудник</a:t>
            </a:r>
            <a:r>
              <a:rPr sz="2750" spc="125" dirty="0">
                <a:latin typeface="Franklin Gothic Medium"/>
                <a:cs typeface="Franklin Gothic Medium"/>
              </a:rPr>
              <a:t> </a:t>
            </a:r>
            <a:r>
              <a:rPr sz="2750" dirty="0">
                <a:latin typeface="Franklin Gothic Medium"/>
                <a:cs typeface="Franklin Gothic Medium"/>
              </a:rPr>
              <a:t>ОК,</a:t>
            </a:r>
            <a:r>
              <a:rPr sz="2750" spc="180" dirty="0">
                <a:latin typeface="Franklin Gothic Medium"/>
                <a:cs typeface="Franklin Gothic Medium"/>
              </a:rPr>
              <a:t> </a:t>
            </a:r>
            <a:r>
              <a:rPr sz="2750" spc="45" dirty="0">
                <a:latin typeface="Franklin Gothic Medium"/>
                <a:cs typeface="Franklin Gothic Medium"/>
              </a:rPr>
              <a:t>Руководитель</a:t>
            </a:r>
            <a:endParaRPr sz="2750">
              <a:latin typeface="Franklin Gothic Medium"/>
              <a:cs typeface="Franklin Gothic Medium"/>
            </a:endParaRPr>
          </a:p>
          <a:p>
            <a:pPr marL="297815" marR="1290320" indent="-285750">
              <a:lnSpc>
                <a:spcPct val="102400"/>
              </a:lnSpc>
              <a:spcBef>
                <a:spcPts val="1430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750" spc="65" dirty="0">
                <a:latin typeface="Franklin Gothic Medium"/>
                <a:cs typeface="Franklin Gothic Medium"/>
              </a:rPr>
              <a:t>Прецеденты</a:t>
            </a:r>
            <a:r>
              <a:rPr sz="2750" spc="125" dirty="0">
                <a:latin typeface="Franklin Gothic Medium"/>
                <a:cs typeface="Franklin Gothic Medium"/>
              </a:rPr>
              <a:t> </a:t>
            </a:r>
            <a:r>
              <a:rPr sz="2750" spc="50" dirty="0">
                <a:latin typeface="Franklin Gothic Medium"/>
                <a:cs typeface="Franklin Gothic Medium"/>
              </a:rPr>
              <a:t>(цели):</a:t>
            </a:r>
            <a:r>
              <a:rPr sz="2750" spc="155" dirty="0">
                <a:latin typeface="Franklin Gothic Medium"/>
                <a:cs typeface="Franklin Gothic Medium"/>
              </a:rPr>
              <a:t> </a:t>
            </a:r>
            <a:r>
              <a:rPr sz="2750" spc="55" dirty="0">
                <a:latin typeface="Franklin Gothic Medium"/>
                <a:cs typeface="Franklin Gothic Medium"/>
              </a:rPr>
              <a:t>Оформить</a:t>
            </a:r>
            <a:r>
              <a:rPr sz="2750" spc="140" dirty="0">
                <a:latin typeface="Franklin Gothic Medium"/>
                <a:cs typeface="Franklin Gothic Medium"/>
              </a:rPr>
              <a:t> </a:t>
            </a:r>
            <a:r>
              <a:rPr sz="2750" spc="60" dirty="0">
                <a:latin typeface="Franklin Gothic Medium"/>
                <a:cs typeface="Franklin Gothic Medium"/>
              </a:rPr>
              <a:t>договор,</a:t>
            </a:r>
            <a:r>
              <a:rPr sz="2750" spc="80" dirty="0">
                <a:latin typeface="Franklin Gothic Medium"/>
                <a:cs typeface="Franklin Gothic Medium"/>
              </a:rPr>
              <a:t> </a:t>
            </a:r>
            <a:r>
              <a:rPr sz="2750" spc="50" dirty="0">
                <a:latin typeface="Franklin Gothic Medium"/>
                <a:cs typeface="Franklin Gothic Medium"/>
              </a:rPr>
              <a:t>Подписать </a:t>
            </a:r>
            <a:r>
              <a:rPr sz="2750" spc="60" dirty="0">
                <a:latin typeface="Franklin Gothic Medium"/>
                <a:cs typeface="Franklin Gothic Medium"/>
              </a:rPr>
              <a:t>документы,</a:t>
            </a:r>
            <a:r>
              <a:rPr sz="2750" spc="90" dirty="0">
                <a:latin typeface="Franklin Gothic Medium"/>
                <a:cs typeface="Franklin Gothic Medium"/>
              </a:rPr>
              <a:t> </a:t>
            </a:r>
            <a:r>
              <a:rPr sz="2750" spc="65" dirty="0">
                <a:latin typeface="Franklin Gothic Medium"/>
                <a:cs typeface="Franklin Gothic Medium"/>
              </a:rPr>
              <a:t>Зарегистрировать</a:t>
            </a:r>
            <a:r>
              <a:rPr sz="2750" spc="155" dirty="0">
                <a:latin typeface="Franklin Gothic Medium"/>
                <a:cs typeface="Franklin Gothic Medium"/>
              </a:rPr>
              <a:t> </a:t>
            </a:r>
            <a:r>
              <a:rPr sz="2750" dirty="0">
                <a:latin typeface="Franklin Gothic Medium"/>
                <a:cs typeface="Franklin Gothic Medium"/>
              </a:rPr>
              <a:t>в</a:t>
            </a:r>
            <a:r>
              <a:rPr sz="2750" spc="110" dirty="0">
                <a:latin typeface="Franklin Gothic Medium"/>
                <a:cs typeface="Franklin Gothic Medium"/>
              </a:rPr>
              <a:t> </a:t>
            </a:r>
            <a:r>
              <a:rPr sz="2750" spc="55" dirty="0">
                <a:latin typeface="Franklin Gothic Medium"/>
                <a:cs typeface="Franklin Gothic Medium"/>
              </a:rPr>
              <a:t>системе</a:t>
            </a:r>
            <a:endParaRPr sz="275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4546" y="974731"/>
            <a:ext cx="4523857" cy="58705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9812" y="131063"/>
            <a:ext cx="9900920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12314">
              <a:lnSpc>
                <a:spcPct val="100000"/>
              </a:lnSpc>
              <a:spcBef>
                <a:spcPts val="130"/>
              </a:spcBef>
            </a:pPr>
            <a:r>
              <a:rPr sz="3950" spc="-300" dirty="0">
                <a:solidFill>
                  <a:srgbClr val="000000"/>
                </a:solidFill>
              </a:rPr>
              <a:t>ДИАГРАММА ПРЕЦЕДЕНТОВ</a:t>
            </a:r>
            <a:endParaRPr sz="3950" spc="-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9812" y="131063"/>
            <a:ext cx="9900920" cy="1862368"/>
          </a:xfrm>
          <a:prstGeom prst="rect">
            <a:avLst/>
          </a:prstGeom>
        </p:spPr>
        <p:txBody>
          <a:bodyPr vert="horz" wrap="square" lIns="0" tIns="218757" rIns="0" bIns="0" rtlCol="0">
            <a:spAutoFit/>
          </a:bodyPr>
          <a:lstStyle/>
          <a:p>
            <a:pPr marL="12700" marR="5080">
              <a:lnSpc>
                <a:spcPts val="6380"/>
              </a:lnSpc>
              <a:spcBef>
                <a:spcPts val="925"/>
              </a:spcBef>
            </a:pPr>
            <a:r>
              <a:rPr sz="5900" spc="-300" dirty="0"/>
              <a:t>ДИАГРАММА ПОСЛЕДОВАТЕЛЬНОСТИ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9812" y="2466403"/>
            <a:ext cx="9690100" cy="38728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0"/>
              </a:spcBef>
            </a:pPr>
            <a:r>
              <a:rPr sz="2400" dirty="0">
                <a:latin typeface="Franklin Gothic Medium"/>
                <a:cs typeface="Franklin Gothic Medium"/>
              </a:rPr>
              <a:t>Показывает</a:t>
            </a:r>
            <a:r>
              <a:rPr sz="2400" spc="52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временную</a:t>
            </a:r>
            <a:r>
              <a:rPr sz="2400" spc="20" dirty="0">
                <a:latin typeface="Franklin Gothic Medium"/>
                <a:cs typeface="Franklin Gothic Medium"/>
              </a:rPr>
              <a:t>  </a:t>
            </a:r>
            <a:r>
              <a:rPr sz="2400" dirty="0">
                <a:latin typeface="Franklin Gothic Medium"/>
                <a:cs typeface="Franklin Gothic Medium"/>
              </a:rPr>
              <a:t>последовательность</a:t>
            </a:r>
            <a:r>
              <a:rPr sz="2400" spc="5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взаимодействий</a:t>
            </a:r>
            <a:r>
              <a:rPr sz="2400" spc="56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между </a:t>
            </a:r>
            <a:r>
              <a:rPr sz="2400" dirty="0">
                <a:latin typeface="Franklin Gothic Medium"/>
                <a:cs typeface="Franklin Gothic Medium"/>
              </a:rPr>
              <a:t>объектами</a:t>
            </a:r>
            <a:r>
              <a:rPr sz="2400" spc="3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</a:t>
            </a:r>
            <a:r>
              <a:rPr sz="2400" spc="3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рамках</a:t>
            </a:r>
            <a:r>
              <a:rPr sz="2400" spc="2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конкретного</a:t>
            </a:r>
            <a:r>
              <a:rPr sz="2400" spc="29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сценария.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400" spc="-10" dirty="0">
                <a:latin typeface="Franklin Gothic Medium"/>
                <a:cs typeface="Franklin Gothic Medium"/>
              </a:rPr>
              <a:t>Отображает: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Участников</a:t>
            </a:r>
            <a:r>
              <a:rPr sz="2400" spc="3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процесса:</a:t>
            </a:r>
            <a:r>
              <a:rPr sz="2400" spc="3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Кандидат,</a:t>
            </a:r>
            <a:r>
              <a:rPr sz="2400" spc="3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Сотрудник</a:t>
            </a:r>
            <a:r>
              <a:rPr sz="2400" spc="3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ОК,</a:t>
            </a:r>
            <a:r>
              <a:rPr sz="2400" spc="35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Система,</a:t>
            </a:r>
            <a:endParaRPr sz="2400">
              <a:latin typeface="Franklin Gothic Medium"/>
              <a:cs typeface="Franklin Gothic Medium"/>
            </a:endParaRPr>
          </a:p>
          <a:p>
            <a:pPr marL="297815">
              <a:lnSpc>
                <a:spcPct val="100000"/>
              </a:lnSpc>
              <a:spcBef>
                <a:spcPts val="50"/>
              </a:spcBef>
            </a:pPr>
            <a:r>
              <a:rPr sz="2400" spc="-10" dirty="0">
                <a:latin typeface="Franklin Gothic Medium"/>
                <a:cs typeface="Franklin Gothic Medium"/>
              </a:rPr>
              <a:t>Руководитель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00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spc="10" dirty="0">
                <a:latin typeface="Franklin Gothic Medium"/>
                <a:cs typeface="Franklin Gothic Medium"/>
              </a:rPr>
              <a:t>Последовательность</a:t>
            </a:r>
            <a:r>
              <a:rPr sz="2400" spc="355" dirty="0">
                <a:latin typeface="Franklin Gothic Medium"/>
                <a:cs typeface="Franklin Gothic Medium"/>
              </a:rPr>
              <a:t> </a:t>
            </a:r>
            <a:r>
              <a:rPr sz="2400" spc="10" dirty="0">
                <a:latin typeface="Franklin Gothic Medium"/>
                <a:cs typeface="Franklin Gothic Medium"/>
              </a:rPr>
              <a:t>сообщений</a:t>
            </a:r>
            <a:r>
              <a:rPr sz="2400" spc="400" dirty="0">
                <a:latin typeface="Franklin Gothic Medium"/>
                <a:cs typeface="Franklin Gothic Medium"/>
              </a:rPr>
              <a:t> </a:t>
            </a:r>
            <a:r>
              <a:rPr sz="2400" spc="10" dirty="0">
                <a:latin typeface="Franklin Gothic Medium"/>
                <a:cs typeface="Franklin Gothic Medium"/>
              </a:rPr>
              <a:t>между</a:t>
            </a:r>
            <a:r>
              <a:rPr sz="2400" spc="40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объектами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0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Временные</a:t>
            </a:r>
            <a:r>
              <a:rPr sz="2400" spc="3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рамки</a:t>
            </a:r>
            <a:r>
              <a:rPr sz="2400" spc="4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выполнения</a:t>
            </a:r>
            <a:r>
              <a:rPr sz="2400" spc="3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операций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Активность</a:t>
            </a:r>
            <a:r>
              <a:rPr sz="2400" spc="53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участников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3850" y="904875"/>
            <a:ext cx="5314950" cy="5172075"/>
            <a:chOff x="323850" y="904875"/>
            <a:chExt cx="5314950" cy="5172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5" y="914400"/>
              <a:ext cx="5295900" cy="51530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8612" y="909637"/>
              <a:ext cx="5305425" cy="5162550"/>
            </a:xfrm>
            <a:custGeom>
              <a:avLst/>
              <a:gdLst/>
              <a:ahLst/>
              <a:cxnLst/>
              <a:rect l="l" t="t" r="r" b="b"/>
              <a:pathLst>
                <a:path w="5305425" h="5162550">
                  <a:moveTo>
                    <a:pt x="0" y="5162550"/>
                  </a:moveTo>
                  <a:lnTo>
                    <a:pt x="5305425" y="5162550"/>
                  </a:lnTo>
                  <a:lnTo>
                    <a:pt x="5305425" y="0"/>
                  </a:lnTo>
                  <a:lnTo>
                    <a:pt x="0" y="0"/>
                  </a:lnTo>
                  <a:lnTo>
                    <a:pt x="0" y="51625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553263" y="1723961"/>
            <a:ext cx="5362575" cy="3419475"/>
            <a:chOff x="6553263" y="1723961"/>
            <a:chExt cx="5362575" cy="34194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2725" y="1733549"/>
              <a:ext cx="5343525" cy="34004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58026" y="1728723"/>
              <a:ext cx="5353050" cy="3409950"/>
            </a:xfrm>
            <a:custGeom>
              <a:avLst/>
              <a:gdLst/>
              <a:ahLst/>
              <a:cxnLst/>
              <a:rect l="l" t="t" r="r" b="b"/>
              <a:pathLst>
                <a:path w="5353050" h="3409950">
                  <a:moveTo>
                    <a:pt x="0" y="3409950"/>
                  </a:moveTo>
                  <a:lnTo>
                    <a:pt x="5353050" y="3409950"/>
                  </a:lnTo>
                  <a:lnTo>
                    <a:pt x="5353050" y="0"/>
                  </a:lnTo>
                  <a:lnTo>
                    <a:pt x="0" y="0"/>
                  </a:lnTo>
                  <a:lnTo>
                    <a:pt x="0" y="34099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39006" y="161283"/>
            <a:ext cx="10313988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50975">
              <a:lnSpc>
                <a:spcPct val="100000"/>
              </a:lnSpc>
              <a:spcBef>
                <a:spcPts val="130"/>
              </a:spcBef>
            </a:pPr>
            <a:r>
              <a:rPr sz="3950" spc="-300" dirty="0">
                <a:solidFill>
                  <a:srgbClr val="000000"/>
                </a:solidFill>
              </a:rPr>
              <a:t>ДИАГРАММА ПОСЛЕДОВАТЕЛЬНОСТИ</a:t>
            </a:r>
            <a:endParaRPr sz="3950" spc="-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10972800" cy="1390509"/>
          </a:xfrm>
          <a:prstGeom prst="rect">
            <a:avLst/>
          </a:prstGeom>
        </p:spPr>
        <p:txBody>
          <a:bodyPr vert="horz" wrap="square" lIns="0" tIns="4626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spc="-300" dirty="0"/>
              <a:t>ДИАГРАММА</a:t>
            </a:r>
            <a:r>
              <a:rPr lang="en-US" sz="6000" spc="-300" dirty="0"/>
              <a:t> </a:t>
            </a:r>
            <a:r>
              <a:rPr sz="6000" spc="-300" dirty="0"/>
              <a:t>ДЕЯТЕЛЬНОСТИ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9812" y="2523489"/>
            <a:ext cx="9625965" cy="3502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Franklin Gothic Medium"/>
                <a:cs typeface="Franklin Gothic Medium"/>
              </a:rPr>
              <a:t>Диаграмма</a:t>
            </a:r>
            <a:r>
              <a:rPr sz="2400" spc="2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деятельности</a:t>
            </a:r>
            <a:r>
              <a:rPr sz="2400" spc="3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-</a:t>
            </a:r>
            <a:r>
              <a:rPr sz="2400" spc="2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показывает</a:t>
            </a:r>
            <a:r>
              <a:rPr sz="2400" spc="3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поток</a:t>
            </a:r>
            <a:r>
              <a:rPr sz="2400" spc="33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работ</a:t>
            </a:r>
            <a:r>
              <a:rPr sz="2400" spc="2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</a:t>
            </a:r>
            <a:r>
              <a:rPr sz="2400" spc="2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логику</a:t>
            </a:r>
            <a:r>
              <a:rPr sz="2400" spc="3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бизнес-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Franklin Gothic Medium"/>
                <a:cs typeface="Franklin Gothic Medium"/>
              </a:rPr>
              <a:t>процесса,</a:t>
            </a:r>
            <a:r>
              <a:rPr sz="2400" spc="31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включая</a:t>
            </a:r>
            <a:r>
              <a:rPr sz="2400" spc="32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ветвления</a:t>
            </a:r>
            <a:r>
              <a:rPr sz="2400" spc="32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</a:t>
            </a:r>
            <a:r>
              <a:rPr sz="2400" spc="33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параллельные</a:t>
            </a:r>
            <a:r>
              <a:rPr sz="2400" spc="42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операции.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400" dirty="0">
                <a:latin typeface="Franklin Gothic Medium"/>
                <a:cs typeface="Franklin Gothic Medium"/>
              </a:rPr>
              <a:t>Что</a:t>
            </a:r>
            <a:r>
              <a:rPr sz="2400" spc="16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отображает: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Действия</a:t>
            </a:r>
            <a:r>
              <a:rPr sz="2400" spc="2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</a:t>
            </a:r>
            <a:r>
              <a:rPr sz="2400" spc="2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операции</a:t>
            </a:r>
            <a:r>
              <a:rPr sz="2400" spc="2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процесса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00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Условия</a:t>
            </a:r>
            <a:r>
              <a:rPr sz="2400" spc="254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</a:t>
            </a:r>
            <a:r>
              <a:rPr sz="2400" spc="2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точки</a:t>
            </a:r>
            <a:r>
              <a:rPr sz="2400" spc="21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принятия</a:t>
            </a:r>
            <a:r>
              <a:rPr sz="2400" spc="21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решений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80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Поток</a:t>
            </a:r>
            <a:r>
              <a:rPr sz="2400" spc="254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управления</a:t>
            </a:r>
            <a:r>
              <a:rPr sz="2400" spc="3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между</a:t>
            </a:r>
            <a:r>
              <a:rPr sz="2400" spc="34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действиями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00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Разделение</a:t>
            </a:r>
            <a:r>
              <a:rPr sz="2400" spc="245" dirty="0">
                <a:latin typeface="Franklin Gothic Medium"/>
                <a:cs typeface="Franklin Gothic Medium"/>
              </a:rPr>
              <a:t> </a:t>
            </a:r>
            <a:r>
              <a:rPr sz="2400" spc="45" dirty="0">
                <a:latin typeface="Franklin Gothic Medium"/>
                <a:cs typeface="Franklin Gothic Medium"/>
              </a:rPr>
              <a:t>ответственности</a:t>
            </a:r>
            <a:r>
              <a:rPr sz="2400" spc="2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(дорожки)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1266825"/>
            <a:ext cx="5438775" cy="4333875"/>
            <a:chOff x="152400" y="1266825"/>
            <a:chExt cx="5438775" cy="43338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925" y="1276350"/>
              <a:ext cx="5419725" cy="43148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7162" y="1271587"/>
              <a:ext cx="5429250" cy="4324350"/>
            </a:xfrm>
            <a:custGeom>
              <a:avLst/>
              <a:gdLst/>
              <a:ahLst/>
              <a:cxnLst/>
              <a:rect l="l" t="t" r="r" b="b"/>
              <a:pathLst>
                <a:path w="5429250" h="4324350">
                  <a:moveTo>
                    <a:pt x="0" y="4324350"/>
                  </a:moveTo>
                  <a:lnTo>
                    <a:pt x="5429250" y="4324350"/>
                  </a:lnTo>
                  <a:lnTo>
                    <a:pt x="5429250" y="0"/>
                  </a:lnTo>
                  <a:lnTo>
                    <a:pt x="0" y="0"/>
                  </a:lnTo>
                  <a:lnTo>
                    <a:pt x="0" y="4324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277038" y="1276286"/>
            <a:ext cx="5772150" cy="4305300"/>
            <a:chOff x="6277038" y="1276286"/>
            <a:chExt cx="5772150" cy="43053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6500" y="1285875"/>
              <a:ext cx="5753100" cy="42862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81801" y="1281049"/>
              <a:ext cx="5762625" cy="4295775"/>
            </a:xfrm>
            <a:custGeom>
              <a:avLst/>
              <a:gdLst/>
              <a:ahLst/>
              <a:cxnLst/>
              <a:rect l="l" t="t" r="r" b="b"/>
              <a:pathLst>
                <a:path w="5762625" h="4295775">
                  <a:moveTo>
                    <a:pt x="0" y="4295775"/>
                  </a:moveTo>
                  <a:lnTo>
                    <a:pt x="5762625" y="4295775"/>
                  </a:lnTo>
                  <a:lnTo>
                    <a:pt x="5762625" y="0"/>
                  </a:lnTo>
                  <a:lnTo>
                    <a:pt x="0" y="0"/>
                  </a:lnTo>
                  <a:lnTo>
                    <a:pt x="0" y="42957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39812" y="131063"/>
            <a:ext cx="9900920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25955">
              <a:lnSpc>
                <a:spcPct val="100000"/>
              </a:lnSpc>
              <a:spcBef>
                <a:spcPts val="130"/>
              </a:spcBef>
            </a:pPr>
            <a:r>
              <a:rPr sz="3950" spc="-300" dirty="0">
                <a:solidFill>
                  <a:srgbClr val="000000"/>
                </a:solidFill>
              </a:rPr>
              <a:t>ДИАГРАММА ДЕЯТЕЛЬНОСТИ</a:t>
            </a:r>
            <a:endParaRPr sz="3950" spc="-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006" y="152400"/>
            <a:ext cx="10313988" cy="1392368"/>
          </a:xfrm>
          <a:prstGeom prst="rect">
            <a:avLst/>
          </a:prstGeom>
        </p:spPr>
        <p:txBody>
          <a:bodyPr vert="horz" wrap="square" lIns="0" tIns="479742" rIns="0" bIns="0" rtlCol="0">
            <a:spAutoFit/>
          </a:bodyPr>
          <a:lstStyle/>
          <a:p>
            <a:pPr marL="1047750">
              <a:lnSpc>
                <a:spcPct val="100000"/>
              </a:lnSpc>
              <a:spcBef>
                <a:spcPts val="130"/>
              </a:spcBef>
            </a:pPr>
            <a:r>
              <a:rPr sz="5900" spc="-300" dirty="0"/>
              <a:t>ДИАГРАММА СОСТОЯНИЙ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9812" y="2466403"/>
            <a:ext cx="9966325" cy="38728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1009015">
              <a:lnSpc>
                <a:spcPct val="101699"/>
              </a:lnSpc>
              <a:spcBef>
                <a:spcPts val="50"/>
              </a:spcBef>
            </a:pPr>
            <a:r>
              <a:rPr sz="2400" dirty="0">
                <a:latin typeface="Franklin Gothic Medium"/>
                <a:cs typeface="Franklin Gothic Medium"/>
              </a:rPr>
              <a:t>Диаграмма</a:t>
            </a:r>
            <a:r>
              <a:rPr sz="2400" spc="3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состояний</a:t>
            </a:r>
            <a:r>
              <a:rPr sz="2400" spc="41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-</a:t>
            </a:r>
            <a:r>
              <a:rPr sz="2400" spc="31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показывает</a:t>
            </a:r>
            <a:r>
              <a:rPr sz="2400" spc="3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жизненный</a:t>
            </a:r>
            <a:r>
              <a:rPr sz="2400" spc="31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цикл</a:t>
            </a:r>
            <a:r>
              <a:rPr sz="2400" spc="2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объекта</a:t>
            </a:r>
            <a:r>
              <a:rPr sz="2400" spc="25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latin typeface="Franklin Gothic Medium"/>
                <a:cs typeface="Franklin Gothic Medium"/>
              </a:rPr>
              <a:t>и </a:t>
            </a:r>
            <a:r>
              <a:rPr sz="2400" dirty="0">
                <a:latin typeface="Franklin Gothic Medium"/>
                <a:cs typeface="Franklin Gothic Medium"/>
              </a:rPr>
              <a:t>переходы</a:t>
            </a:r>
            <a:r>
              <a:rPr sz="2400" spc="2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между</a:t>
            </a:r>
            <a:r>
              <a:rPr sz="2400" spc="1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его</a:t>
            </a:r>
            <a:r>
              <a:rPr sz="2400" spc="3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состояниями</a:t>
            </a:r>
            <a:r>
              <a:rPr sz="2400" spc="22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в</a:t>
            </a:r>
            <a:r>
              <a:rPr sz="2400" spc="2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ответ</a:t>
            </a:r>
            <a:r>
              <a:rPr sz="2400" spc="2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на</a:t>
            </a:r>
            <a:r>
              <a:rPr sz="2400" spc="17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события.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400" dirty="0">
                <a:latin typeface="Franklin Gothic Medium"/>
                <a:cs typeface="Franklin Gothic Medium"/>
              </a:rPr>
              <a:t>Что</a:t>
            </a:r>
            <a:r>
              <a:rPr sz="2400" spc="16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отображает: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Состояния</a:t>
            </a:r>
            <a:r>
              <a:rPr sz="2400" spc="4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объекта:</a:t>
            </a:r>
            <a:r>
              <a:rPr sz="2400" spc="409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Черновик,</a:t>
            </a:r>
            <a:r>
              <a:rPr sz="2400" spc="4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На</a:t>
            </a:r>
            <a:r>
              <a:rPr sz="2400" spc="33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согласовании,</a:t>
            </a:r>
            <a:r>
              <a:rPr sz="2400" spc="4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Подписан,</a:t>
            </a:r>
            <a:r>
              <a:rPr sz="2400" spc="409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Активен,</a:t>
            </a:r>
            <a:endParaRPr sz="2400">
              <a:latin typeface="Franklin Gothic Medium"/>
              <a:cs typeface="Franklin Gothic Medium"/>
            </a:endParaRPr>
          </a:p>
          <a:p>
            <a:pPr marL="297815">
              <a:lnSpc>
                <a:spcPct val="100000"/>
              </a:lnSpc>
              <a:spcBef>
                <a:spcPts val="50"/>
              </a:spcBef>
            </a:pPr>
            <a:r>
              <a:rPr sz="2400" spc="-10" dirty="0">
                <a:latin typeface="Franklin Gothic Medium"/>
                <a:cs typeface="Franklin Gothic Medium"/>
              </a:rPr>
              <a:t>Архив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00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Переходы</a:t>
            </a:r>
            <a:r>
              <a:rPr sz="2400" spc="2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между</a:t>
            </a:r>
            <a:r>
              <a:rPr sz="2400" spc="2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состояниями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0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События,</a:t>
            </a:r>
            <a:r>
              <a:rPr sz="2400" spc="3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переходы</a:t>
            </a:r>
            <a:endParaRPr sz="2400">
              <a:latin typeface="Franklin Gothic Medium"/>
              <a:cs typeface="Franklin Gothic Medium"/>
            </a:endParaRPr>
          </a:p>
          <a:p>
            <a:pPr marL="297815" indent="-28511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Конечные</a:t>
            </a:r>
            <a:r>
              <a:rPr sz="2400" spc="2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и</a:t>
            </a:r>
            <a:r>
              <a:rPr sz="2400" spc="2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начальные</a:t>
            </a:r>
            <a:r>
              <a:rPr sz="2400" spc="270" dirty="0">
                <a:latin typeface="Franklin Gothic Medium"/>
                <a:cs typeface="Franklin Gothic Medium"/>
              </a:rPr>
              <a:t> </a:t>
            </a:r>
            <a:r>
              <a:rPr sz="2400" spc="35" dirty="0">
                <a:latin typeface="Franklin Gothic Medium"/>
                <a:cs typeface="Franklin Gothic Medium"/>
              </a:rPr>
              <a:t>состояния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1019175"/>
            <a:ext cx="5400675" cy="4819650"/>
            <a:chOff x="352425" y="1019175"/>
            <a:chExt cx="5400675" cy="481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950" y="1028700"/>
              <a:ext cx="5381625" cy="4800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7187" y="1023937"/>
              <a:ext cx="5391150" cy="4810125"/>
            </a:xfrm>
            <a:custGeom>
              <a:avLst/>
              <a:gdLst/>
              <a:ahLst/>
              <a:cxnLst/>
              <a:rect l="l" t="t" r="r" b="b"/>
              <a:pathLst>
                <a:path w="5391150" h="4810125">
                  <a:moveTo>
                    <a:pt x="0" y="4810125"/>
                  </a:moveTo>
                  <a:lnTo>
                    <a:pt x="5391150" y="4810125"/>
                  </a:lnTo>
                  <a:lnTo>
                    <a:pt x="5391150" y="0"/>
                  </a:lnTo>
                  <a:lnTo>
                    <a:pt x="0" y="0"/>
                  </a:lnTo>
                  <a:lnTo>
                    <a:pt x="0" y="4810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324663" y="1819275"/>
            <a:ext cx="5400675" cy="3990975"/>
            <a:chOff x="6324663" y="1819275"/>
            <a:chExt cx="5400675" cy="39909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4125" y="1828800"/>
              <a:ext cx="5381625" cy="39719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329426" y="1824037"/>
              <a:ext cx="5391150" cy="3981450"/>
            </a:xfrm>
            <a:custGeom>
              <a:avLst/>
              <a:gdLst/>
              <a:ahLst/>
              <a:cxnLst/>
              <a:rect l="l" t="t" r="r" b="b"/>
              <a:pathLst>
                <a:path w="5391150" h="3981450">
                  <a:moveTo>
                    <a:pt x="0" y="3981450"/>
                  </a:moveTo>
                  <a:lnTo>
                    <a:pt x="5391150" y="3981450"/>
                  </a:lnTo>
                  <a:lnTo>
                    <a:pt x="5391150" y="0"/>
                  </a:lnTo>
                  <a:lnTo>
                    <a:pt x="0" y="0"/>
                  </a:lnTo>
                  <a:lnTo>
                    <a:pt x="0" y="39814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39812" y="131063"/>
            <a:ext cx="9900920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13610">
              <a:lnSpc>
                <a:spcPct val="100000"/>
              </a:lnSpc>
              <a:spcBef>
                <a:spcPts val="130"/>
              </a:spcBef>
            </a:pPr>
            <a:r>
              <a:rPr sz="3950" spc="-300" dirty="0">
                <a:solidFill>
                  <a:srgbClr val="000000"/>
                </a:solidFill>
              </a:rPr>
              <a:t>ДИАГРАММА СОСТОЯНИЙ</a:t>
            </a:r>
            <a:endParaRPr sz="3950" spc="-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/>
              <a:t>Комплексное</a:t>
            </a:r>
            <a:r>
              <a:rPr spc="509" dirty="0"/>
              <a:t> </a:t>
            </a:r>
            <a:r>
              <a:rPr dirty="0"/>
              <a:t>моделирование</a:t>
            </a:r>
            <a:r>
              <a:rPr spc="395" dirty="0"/>
              <a:t> </a:t>
            </a:r>
            <a:r>
              <a:rPr spc="-10" dirty="0"/>
              <a:t>выявило:</a:t>
            </a:r>
          </a:p>
          <a:p>
            <a:pPr marL="297815" indent="-28511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dirty="0"/>
              <a:t>Четкое</a:t>
            </a:r>
            <a:r>
              <a:rPr spc="335" dirty="0"/>
              <a:t> </a:t>
            </a:r>
            <a:r>
              <a:rPr dirty="0"/>
              <a:t>распределение</a:t>
            </a:r>
            <a:r>
              <a:rPr spc="320" dirty="0"/>
              <a:t> </a:t>
            </a:r>
            <a:r>
              <a:rPr dirty="0"/>
              <a:t>ролей</a:t>
            </a:r>
            <a:r>
              <a:rPr spc="340" dirty="0"/>
              <a:t> </a:t>
            </a:r>
            <a:r>
              <a:rPr dirty="0"/>
              <a:t>между</a:t>
            </a:r>
            <a:r>
              <a:rPr spc="290" dirty="0"/>
              <a:t> </a:t>
            </a:r>
            <a:r>
              <a:rPr spc="-10" dirty="0"/>
              <a:t>участниками</a:t>
            </a:r>
          </a:p>
          <a:p>
            <a:pPr marL="297815" indent="-285115">
              <a:lnSpc>
                <a:spcPct val="100000"/>
              </a:lnSpc>
              <a:spcBef>
                <a:spcPts val="140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pc="10" dirty="0"/>
              <a:t>Оптимальную</a:t>
            </a:r>
            <a:r>
              <a:rPr spc="525" dirty="0"/>
              <a:t> </a:t>
            </a:r>
            <a:r>
              <a:rPr spc="10" dirty="0"/>
              <a:t>последовательность</a:t>
            </a:r>
            <a:r>
              <a:rPr spc="445" dirty="0"/>
              <a:t> </a:t>
            </a:r>
            <a:r>
              <a:rPr spc="10" dirty="0"/>
              <a:t>действий</a:t>
            </a:r>
            <a:r>
              <a:rPr spc="445" dirty="0"/>
              <a:t> </a:t>
            </a:r>
            <a:r>
              <a:rPr spc="-10" dirty="0"/>
              <a:t>процесса</a:t>
            </a:r>
          </a:p>
          <a:p>
            <a:pPr marL="297815" indent="-285115">
              <a:lnSpc>
                <a:spcPct val="100000"/>
              </a:lnSpc>
              <a:spcBef>
                <a:spcPts val="1400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dirty="0"/>
              <a:t>Полный</a:t>
            </a:r>
            <a:r>
              <a:rPr spc="260" dirty="0"/>
              <a:t> </a:t>
            </a:r>
            <a:r>
              <a:rPr dirty="0"/>
              <a:t>цикл</a:t>
            </a:r>
            <a:r>
              <a:rPr spc="245" dirty="0"/>
              <a:t> </a:t>
            </a:r>
            <a:r>
              <a:rPr dirty="0"/>
              <a:t>жизни</a:t>
            </a:r>
            <a:r>
              <a:rPr spc="260" dirty="0"/>
              <a:t> </a:t>
            </a:r>
            <a:r>
              <a:rPr dirty="0"/>
              <a:t>трудового</a:t>
            </a:r>
            <a:r>
              <a:rPr spc="330" dirty="0"/>
              <a:t> </a:t>
            </a:r>
            <a:r>
              <a:rPr spc="-10" dirty="0"/>
              <a:t>договора</a:t>
            </a:r>
          </a:p>
          <a:p>
            <a:pPr marL="297815" indent="-285115">
              <a:lnSpc>
                <a:spcPct val="100000"/>
              </a:lnSpc>
              <a:spcBef>
                <a:spcPts val="147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dirty="0"/>
              <a:t>Все</a:t>
            </a:r>
            <a:r>
              <a:rPr spc="254" dirty="0"/>
              <a:t> </a:t>
            </a:r>
            <a:r>
              <a:rPr dirty="0"/>
              <a:t>возможные</a:t>
            </a:r>
            <a:r>
              <a:rPr spc="270" dirty="0"/>
              <a:t> </a:t>
            </a:r>
            <a:r>
              <a:rPr spc="-10" dirty="0"/>
              <a:t>сценарии</a:t>
            </a:r>
          </a:p>
          <a:p>
            <a:pPr marL="12700" marR="5080">
              <a:lnSpc>
                <a:spcPct val="101699"/>
              </a:lnSpc>
              <a:spcBef>
                <a:spcPts val="1350"/>
              </a:spcBef>
            </a:pPr>
            <a:r>
              <a:rPr dirty="0"/>
              <a:t>Результат:</a:t>
            </a:r>
            <a:r>
              <a:rPr spc="370" dirty="0"/>
              <a:t> </a:t>
            </a:r>
            <a:r>
              <a:rPr dirty="0"/>
              <a:t>Создана</a:t>
            </a:r>
            <a:r>
              <a:rPr spc="280" dirty="0"/>
              <a:t> </a:t>
            </a:r>
            <a:r>
              <a:rPr dirty="0"/>
              <a:t>целостная</a:t>
            </a:r>
            <a:r>
              <a:rPr spc="340" dirty="0"/>
              <a:t> </a:t>
            </a:r>
            <a:r>
              <a:rPr dirty="0"/>
              <a:t>модель</a:t>
            </a:r>
            <a:r>
              <a:rPr spc="345" dirty="0"/>
              <a:t> </a:t>
            </a:r>
            <a:r>
              <a:rPr dirty="0"/>
              <a:t>для</a:t>
            </a:r>
            <a:r>
              <a:rPr spc="345" dirty="0"/>
              <a:t> </a:t>
            </a:r>
            <a:r>
              <a:rPr dirty="0"/>
              <a:t>автоматизации</a:t>
            </a:r>
            <a:r>
              <a:rPr spc="345" dirty="0"/>
              <a:t> </a:t>
            </a:r>
            <a:r>
              <a:rPr spc="-10" dirty="0"/>
              <a:t>процесса </a:t>
            </a:r>
            <a:r>
              <a:rPr dirty="0"/>
              <a:t>трудоустройства,</a:t>
            </a:r>
            <a:r>
              <a:rPr spc="350" dirty="0"/>
              <a:t> </a:t>
            </a:r>
            <a:r>
              <a:rPr dirty="0"/>
              <a:t>готовая</a:t>
            </a:r>
            <a:r>
              <a:rPr spc="355" dirty="0"/>
              <a:t> </a:t>
            </a:r>
            <a:r>
              <a:rPr dirty="0"/>
              <a:t>к</a:t>
            </a:r>
            <a:r>
              <a:rPr spc="320" dirty="0"/>
              <a:t> </a:t>
            </a:r>
            <a:r>
              <a:rPr spc="-10" dirty="0"/>
              <a:t>реализации.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9812" y="131063"/>
            <a:ext cx="9900920" cy="1482842"/>
          </a:xfrm>
          <a:prstGeom prst="rect">
            <a:avLst/>
          </a:prstGeom>
        </p:spPr>
        <p:txBody>
          <a:bodyPr vert="horz" wrap="square" lIns="0" tIns="4626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00" dirty="0"/>
              <a:t>ЗАКЛЮЧЕНИЕ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321</Words>
  <Application>Microsoft Office PowerPoint</Application>
  <PresentationFormat>Широкоэкранный</PresentationFormat>
  <Paragraphs>52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Franklin Gothic Medium</vt:lpstr>
      <vt:lpstr>Microsoft Sans Serif</vt:lpstr>
      <vt:lpstr>Times New Roman</vt:lpstr>
      <vt:lpstr>Office Theme</vt:lpstr>
      <vt:lpstr>UML-ДИАГРАММЫ "ОТДЕЛ КАДРОВ"</vt:lpstr>
      <vt:lpstr>ОПИСАНИЕ ПРЕДМЕТНОЙ ОБЛАСТИ</vt:lpstr>
      <vt:lpstr>КЛЮЧЕВЫЕ УЧАСТНИКИ ПРОЦЕССА</vt:lpstr>
      <vt:lpstr>ДИАГРАММА ПРЕЦЕДЕНТОВ </vt:lpstr>
      <vt:lpstr>ДИАГРАММА ПРЕЦЕДЕНТОВ</vt:lpstr>
      <vt:lpstr>ДИАГРАММА ПОСЛЕДОВАТЕЛЬНОСТИ</vt:lpstr>
      <vt:lpstr>ДИАГРАММА ПОСЛЕДОВАТЕЛЬНОСТИ</vt:lpstr>
      <vt:lpstr>ДИАГРАММА ДЕЯТЕЛЬНОСТИ</vt:lpstr>
      <vt:lpstr>ДИАГРАММА ДЕЯТЕЛЬНОСТИ</vt:lpstr>
      <vt:lpstr>ДИАГРАММА СОСТОЯНИЙ</vt:lpstr>
      <vt:lpstr>ДИАГРАММА СОСТОЯНИЙ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UML-ДИАГРАММЫ "ОТДЕЛ КАДРОВ"</dc:title>
  <cp:lastModifiedBy>Олег Сажаев</cp:lastModifiedBy>
  <cp:revision>1</cp:revision>
  <dcterms:created xsi:type="dcterms:W3CDTF">2025-11-10T20:27:16Z</dcterms:created>
  <dcterms:modified xsi:type="dcterms:W3CDTF">2025-11-10T20:36:08Z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LastSaved">
    <vt:filetime>2025-11-10T00:00:00Z</vt:filetime>
  </property>
</Properties>
</file>